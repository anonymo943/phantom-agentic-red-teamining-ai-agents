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89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624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(15 seconds):
"Every growing organisation runs a security risk they're not addressing — not because they don't care, but because proper penetration testing is expensive, slow, and requires external consultants. PHANTOM changes that. It's an autonomous agent that does what a senior pentester does — but in 90 seconds, at a fraction of the cost, any time of day."
STAT CALLOUTS:
- 10× faster: typical manual pentest takes 2–5 days; PHANTOM completes a full assessment in under 2 hours
- 90% cost reduction: external agencies charge ₹50,000–₹5,00,000 per engagement; PHANTOM runs on API costs alone
- 24/7: security doesn't stop at 5pm; PHANTOM can run nightly automated scans as part of CI/CD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SPEAKER NOTES
OPEN WITH A QUESTION:
"How many organisations in this room run penetration tests more than once a year?" [pause] "Most don't — not because they're careless, but because the options are: hire an external agency for lakhs of rupees, or trust an internal IT team that's stretched thin managing helpdesk tickets."
COLUMN 1 — COST:
"Our own college is a perfect example. IIT, NIT, private universities — they all have systems handling student data, fee payments, academic records. When did any of them last run a penetration test? They rely on their IT department, which has neither the tools nor the training for red-team work."
COLUMN 2 — SPEED:
"A developer ships new code every day. A pentest report delivered 10 days later is describing a system that no longer exists. Security testing has to move at the speed of development."
COLUMN 3 — COMPLIANCE:
"ISO 27001 certification — the gold standard for enterprise security — explicitly requires regular threat modelling and testing. Companies that want this certification either pay for repeated external engagements, or they build internal capability. PHANTOM gives them a third option: automate it."
TRANSITION:
"PHANTOM solves all three. It's fast enough to run on every deployment, cheap enough for a college IT budget, and thorough enough to satisfy an ISO auditor."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TARGET SEGMENTS NOTES
THIS SLIDE ANSWERS: "who actually buys this / uses this?"
EDUCATIONAL INSTITUTIONS (lead with this — it's the most relatable):
"Think about our own college. How many systems handle our data right now? Student portal, fee payment gateway, examination results, hostel management. When was the last time any of those were tested for vulnerabilities? The IT department runs it — they're good at keeping the WiFi up, not at running OWASP Top 10 assessments. PHANTOM gives institutions like ours a way to test their own infrastructure without hiring an external agency they can't afford."
SMEs &amp; STARTUPS:
"A startup raising a Series A will increasingly face a due diligence question from investors: 'what is your security posture?' Right now the honest answer for most is 'we don't know.' PHANTOM changes that — it gives them a documented, auditable answer."
COMPLIANCE:
"ISO 27001 is the certificate that tells customers your organisation takes security seriously. Getting it requires regular penetration testing evidence. PHANTOM generates that evidence automatically, with full reasoning chains the auditor can inspect."
DEVSECOPS:
"The shift-left movement says: catch bugs in dev, not in prod. The same principle applies to security. PHANTOM in a CI/CD pipeline means every deployment gets screened — not once a year, every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ARCHITECTURE NOTES
WALK TOP TO BOTTOM:
1. Target scope — anything: a codebase, a network range, specific endpoints
2. Orchestrator runs the ReAct loop — Plan, Act, Observe, Reflect, Replan. It decides which agent to activate and when.
3. Five specialists — each owns exactly one phase. Recon Agent cannot call Semgrep; that's the Exploit Engine's tool. This isolation prevents confusion and keeps reasoning clean.
4. Sandbox zone — every tool call happens in a container that's created fresh and destroyed after. The agent's reasoning cannot escape into the host system.
5. Memory Layer — ChromaDB vector store. Every failed exploit attempt is stored and tagged. Next planning cycle, the agent queries it first: 'have we tried this? Did it work?' This prevents the agent from looping on dead-end attack vectors.
6. Output — not a chatbot response. A structured report: CVSS-scored findings, ranked by severity, with signed patch diffs the developer can apply.
KEY QUESTION ANTICIPATION:
Q: "How is this different from just running Semgrep?"
A: "Semgrep finds what matches a rule. The Exploit Engine decides whether what Semgrep found is actually exploitable in this specific context, maps it to a MITRE ATT&amp;CK technique, and hands a severity-ranked result to the Patch Agent which generates the fix. Semgrep is one tool in a reasoning pipeline."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AGENT LOGIC NOTES
WALK THE REACT LOOP:
"The five steps on the left are the engine of PHANTOM's intelligence. Every cycle, it Plans based on memory, Acts by calling exactly one tool, Observes the structured output, Reflects on whether its hypothesis was correct, and Replans. The Reflect step is what separates this from a bash script — the agent scores its own confidence and updates its understanding of the target."
WALK THE TRACE:
"On the right is a sample reasoning trace for a real scenario — discovering an SSTI vulnerability in a Flask app. Watch how it starts with a hypothesis, runs tools sequentially, confirms a finding with 96% confidence, cross-checks the CVE against NVD to prevent hallucination, and hands off to the Patch Agent. Every one of those steps is logged and auditable."
KEY DIFFERENTIATOR TO STRESS:
"The REFLECT step with ChromaDB is critical for compliance use cases. When an ISO auditor asks 'show me your testing process', you can replay the full reasoning chain for any assessment. Not just a scan result — the reasoning behind every decision."
ANTICIPATE:
Q: "What if the agent loops?"
A: "Hard limit: 10 ReAct cycles per assessment. After 10 without a CONFIRM, it auto-escalates. Also, ChromaDB prevents retry of FAILED vectors — so the search space shrinks each cycle."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SECURITY &amp; TOOLS NOTES
SECURITY — LEAD WITH THE MOST IMPRESSIVE ONES:
Sentinel token locking:
"This is not just sanitising inputs. We physically wrap the system prompt in unique delimiter tokens. Any tool output that contains those tokens — which would only happen if someone injected them deliberately — is hard-rejected before it reaches the LLM. This defends against Indirect Prompt Injection, where a string inside the target's own codebase tries to hijack the agent."
seccomp:
"Docker alone isn't enough. seccomp is a Linux kernel-level syscall filter. We block ptrace, mount, and chroot — even if something inside the container found a container escape, those syscalls are unavailable at the kernel level. Three independent isolation layers."
action_validator():
"The Red Lines aren't enforced by telling the LLM 'don't do this.' They're enforced by a Python function that runs before every single tool call. The agent's reasoning chain cannot override a Python if-statement."
TOOL TABLE — KEY POINTS:
- "Every agent has a dedicated tool set. Isolation prevents confusion."  
- "ChromaDB is the only tool called by all agents — it's the shared memory that enables session-level learning."
- "NVD API cross-check is anti-hallucination for CVE numbers. LLMs frequently invent CVE IDs. We verify every one before including it in a report."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VALUE &amp; ROADMAP NOTES
OPEN ON THE TABLE:
"This table is the whole argument in one place. Let's go column by column."
COLUMN 1 — External Agency:
"This is the gold standard today. You get a thorough pentest with a detailed report. It costs between 50,000 and 5 lakh rupees per engagement. Most organisations do it once a year, maybe. They're essentially flying blind for 364 days."
COLUMN 2 — Internal IT:
"This is what most colleges and SMEs actually do. The IT team does their best. They don't have red-team training, they don't have dedicated tools, and when they find something they document it in an email thread that nobody reads."
COLUMN 3 — PHANTOM:
"Same coverage, API costs only, available every day, generates a signed auditable log that satisfies an ISO assessor. This isn't replacing the security team — it's giving them a force multiplier."
HIGHLIGHT ROWS 7 AND 8:
"'Scales with CI/CD' and 'ISO 27001 evidence' — these are the two rows where neither alternative can compete. A human pentester cannot run every deployment. An IT department cannot produce structured audit evidence automatically. PHANTOM can do both."
ROADMAP:
"We're not claiming we've built everything today. Week 1 is a working ReAct loop with real tool calls. By Week 4 we're running a full end-to-end assessment on a live target as the demo."
CLOSING LINE:
"PHANTOM makes enterprise-grade security accessible to every organisation — not just the ones that can afford to hire an agency. That is the product."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131E30"/>
          </a:solidFill>
          <a:ln w="12700">
            <a:solidFill>
              <a:srgbClr val="131E30"/>
            </a:solidFill>
            <a:prstDash val="solid"/>
          </a:ln>
        </p:spPr>
        <p:txBody>
          <a:bodyPr/>
          <a:lstStyle/>
          <a:p>
            <a:endParaRPr lang="en-IN"/>
          </a:p>
        </p:txBody>
      </p:sp>
      <p:sp>
        <p:nvSpPr>
          <p:cNvPr id="3" name="Shape 1"/>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IN"/>
          </a:p>
        </p:txBody>
      </p:sp>
      <p:sp>
        <p:nvSpPr>
          <p:cNvPr id="4" name="Shape 2"/>
          <p:cNvSpPr/>
          <p:nvPr/>
        </p:nvSpPr>
        <p:spPr>
          <a:xfrm>
            <a:off x="0" y="4864608"/>
            <a:ext cx="9144000" cy="274320"/>
          </a:xfrm>
          <a:prstGeom prst="rect">
            <a:avLst/>
          </a:prstGeom>
          <a:solidFill>
            <a:srgbClr val="D97706"/>
          </a:solidFill>
          <a:ln w="12700">
            <a:solidFill>
              <a:srgbClr val="D97706"/>
            </a:solidFill>
            <a:prstDash val="solid"/>
          </a:ln>
        </p:spPr>
        <p:txBody>
          <a:bodyPr/>
          <a:lstStyle/>
          <a:p>
            <a:endParaRPr lang="en-IN"/>
          </a:p>
        </p:txBody>
      </p:sp>
      <p:sp>
        <p:nvSpPr>
          <p:cNvPr id="5" name="Text 3"/>
          <p:cNvSpPr/>
          <p:nvPr/>
        </p:nvSpPr>
        <p:spPr>
          <a:xfrm>
            <a:off x="347472" y="274320"/>
            <a:ext cx="5166360" cy="1417320"/>
          </a:xfrm>
          <a:prstGeom prst="rect">
            <a:avLst/>
          </a:prstGeom>
          <a:noFill/>
          <a:ln/>
        </p:spPr>
        <p:txBody>
          <a:bodyPr wrap="square" lIns="0" tIns="0" rIns="0" bIns="0" rtlCol="0" anchor="ctr"/>
          <a:lstStyle/>
          <a:p>
            <a:pPr marL="0" indent="0" algn="l">
              <a:buNone/>
            </a:pPr>
            <a:r>
              <a:rPr lang="en-US" sz="5800" b="1" dirty="0">
                <a:solidFill>
                  <a:srgbClr val="F8FAFC"/>
                </a:solidFill>
                <a:latin typeface="Georgia" pitchFamily="34" charset="0"/>
                <a:ea typeface="Georgia" pitchFamily="34" charset="-122"/>
                <a:cs typeface="Georgia" pitchFamily="34" charset="-120"/>
              </a:rPr>
              <a:t>PHANTOM</a:t>
            </a:r>
            <a:endParaRPr lang="en-US" sz="5800" dirty="0"/>
          </a:p>
        </p:txBody>
      </p:sp>
      <p:sp>
        <p:nvSpPr>
          <p:cNvPr id="6" name="Shape 4"/>
          <p:cNvSpPr/>
          <p:nvPr/>
        </p:nvSpPr>
        <p:spPr>
          <a:xfrm>
            <a:off x="347472" y="1920240"/>
            <a:ext cx="3291840" cy="45720"/>
          </a:xfrm>
          <a:prstGeom prst="rect">
            <a:avLst/>
          </a:prstGeom>
          <a:solidFill>
            <a:srgbClr val="3B82F6"/>
          </a:solidFill>
          <a:ln w="12700">
            <a:solidFill>
              <a:srgbClr val="3B82F6"/>
            </a:solidFill>
            <a:prstDash val="solid"/>
          </a:ln>
        </p:spPr>
        <p:txBody>
          <a:bodyPr/>
          <a:lstStyle/>
          <a:p>
            <a:endParaRPr lang="en-IN"/>
          </a:p>
        </p:txBody>
      </p:sp>
      <p:sp>
        <p:nvSpPr>
          <p:cNvPr id="7" name="Text 5"/>
          <p:cNvSpPr/>
          <p:nvPr/>
        </p:nvSpPr>
        <p:spPr>
          <a:xfrm>
            <a:off x="347472" y="2029968"/>
            <a:ext cx="5166360" cy="640080"/>
          </a:xfrm>
          <a:prstGeom prst="rect">
            <a:avLst/>
          </a:prstGeom>
          <a:noFill/>
          <a:ln/>
        </p:spPr>
        <p:txBody>
          <a:bodyPr wrap="square" lIns="0" tIns="0" rIns="0" bIns="0" rtlCol="0" anchor="t"/>
          <a:lstStyle/>
          <a:p>
            <a:pPr marL="0" indent="0" algn="l">
              <a:buNone/>
            </a:pPr>
            <a:r>
              <a:rPr lang="en-US" sz="1400" kern="0" spc="150" dirty="0">
                <a:solidFill>
                  <a:srgbClr val="3B82F6"/>
                </a:solidFill>
                <a:latin typeface="Calibri" pitchFamily="34" charset="0"/>
                <a:ea typeface="Calibri" pitchFamily="34" charset="-122"/>
                <a:cs typeface="Calibri" pitchFamily="34" charset="-120"/>
              </a:rPr>
              <a:t>Pentesting Heuristic Agent</a:t>
            </a:r>
            <a:endParaRPr lang="en-US" sz="1400" dirty="0"/>
          </a:p>
          <a:p>
            <a:pPr marL="0" indent="0" algn="l">
              <a:buNone/>
            </a:pPr>
            <a:r>
              <a:rPr lang="en-US" sz="1400" kern="0" spc="150" dirty="0">
                <a:solidFill>
                  <a:srgbClr val="3B82F6"/>
                </a:solidFill>
                <a:latin typeface="Calibri" pitchFamily="34" charset="0"/>
                <a:ea typeface="Calibri" pitchFamily="34" charset="-122"/>
                <a:cs typeface="Calibri" pitchFamily="34" charset="-120"/>
              </a:rPr>
              <a:t>with Multi-Tool Network</a:t>
            </a:r>
            <a:endParaRPr lang="en-US" sz="1400" dirty="0"/>
          </a:p>
        </p:txBody>
      </p:sp>
      <p:sp>
        <p:nvSpPr>
          <p:cNvPr id="8" name="Text 6"/>
          <p:cNvSpPr/>
          <p:nvPr/>
        </p:nvSpPr>
        <p:spPr>
          <a:xfrm>
            <a:off x="347472" y="2761488"/>
            <a:ext cx="5166360" cy="329184"/>
          </a:xfrm>
          <a:prstGeom prst="rect">
            <a:avLst/>
          </a:prstGeom>
          <a:noFill/>
          <a:ln/>
        </p:spPr>
        <p:txBody>
          <a:bodyPr wrap="square" lIns="0" tIns="0" rIns="0" bIns="0" rtlCol="0" anchor="ctr"/>
          <a:lstStyle/>
          <a:p>
            <a:pPr marL="0" indent="0" algn="l">
              <a:buNone/>
            </a:pPr>
            <a:r>
              <a:rPr lang="en-US" sz="1600" i="1" dirty="0">
                <a:solidFill>
                  <a:srgbClr val="F8FAFC"/>
                </a:solidFill>
                <a:latin typeface="Georgia" pitchFamily="34" charset="0"/>
                <a:ea typeface="Georgia" pitchFamily="34" charset="-122"/>
                <a:cs typeface="Georgia" pitchFamily="34" charset="-120"/>
              </a:rPr>
              <a:t>Autonomous. Explainable. Always on.</a:t>
            </a:r>
            <a:endParaRPr lang="en-US" sz="1600" dirty="0"/>
          </a:p>
        </p:txBody>
      </p:sp>
      <p:sp>
        <p:nvSpPr>
          <p:cNvPr id="9" name="Text 7"/>
          <p:cNvSpPr/>
          <p:nvPr/>
        </p:nvSpPr>
        <p:spPr>
          <a:xfrm>
            <a:off x="347472" y="3182112"/>
            <a:ext cx="5166360" cy="822960"/>
          </a:xfrm>
          <a:prstGeom prst="rect">
            <a:avLst/>
          </a:prstGeom>
          <a:noFill/>
          <a:ln/>
        </p:spPr>
        <p:txBody>
          <a:bodyPr wrap="square" lIns="0" tIns="0" rIns="0" bIns="0" rtlCol="0" anchor="t"/>
          <a:lstStyle/>
          <a:p>
            <a:pPr marL="0" indent="0" algn="l">
              <a:buNone/>
            </a:pPr>
            <a:r>
              <a:rPr lang="en-US" sz="1200" dirty="0">
                <a:solidFill>
                  <a:srgbClr val="CBD5E1"/>
                </a:solidFill>
                <a:latin typeface="Calibri" pitchFamily="34" charset="0"/>
                <a:ea typeface="Calibri" pitchFamily="34" charset="-122"/>
                <a:cs typeface="Calibri" pitchFamily="34" charset="-120"/>
              </a:rPr>
              <a:t>AI-powered red team agent that identifies vulnerabilities,</a:t>
            </a:r>
            <a:endParaRPr lang="en-US" sz="1200" dirty="0"/>
          </a:p>
          <a:p>
            <a:pPr marL="0" indent="0" algn="l">
              <a:buNone/>
            </a:pPr>
            <a:r>
              <a:rPr lang="en-US" sz="1200" dirty="0">
                <a:solidFill>
                  <a:srgbClr val="CBD5E1"/>
                </a:solidFill>
                <a:latin typeface="Calibri" pitchFamily="34" charset="0"/>
                <a:ea typeface="Calibri" pitchFamily="34" charset="-122"/>
                <a:cs typeface="Calibri" pitchFamily="34" charset="-120"/>
              </a:rPr>
              <a:t>reasons through attack chains, and delivers production-ready</a:t>
            </a:r>
            <a:endParaRPr lang="en-US" sz="1200" dirty="0"/>
          </a:p>
          <a:p>
            <a:pPr marL="0" indent="0" algn="l">
              <a:buNone/>
            </a:pPr>
            <a:r>
              <a:rPr lang="en-US" sz="1200" dirty="0">
                <a:solidFill>
                  <a:srgbClr val="CBD5E1"/>
                </a:solidFill>
                <a:latin typeface="Calibri" pitchFamily="34" charset="0"/>
                <a:ea typeface="Calibri" pitchFamily="34" charset="-122"/>
                <a:cs typeface="Calibri" pitchFamily="34" charset="-120"/>
              </a:rPr>
              <a:t>patches — no external consultant required.</a:t>
            </a:r>
            <a:endParaRPr lang="en-US" sz="1200" dirty="0"/>
          </a:p>
        </p:txBody>
      </p:sp>
      <p:sp>
        <p:nvSpPr>
          <p:cNvPr id="10" name="Shape 8"/>
          <p:cNvSpPr/>
          <p:nvPr/>
        </p:nvSpPr>
        <p:spPr>
          <a:xfrm>
            <a:off x="5897880" y="457200"/>
            <a:ext cx="3017520" cy="1261872"/>
          </a:xfrm>
          <a:prstGeom prst="rect">
            <a:avLst/>
          </a:prstGeom>
          <a:solidFill>
            <a:srgbClr val="1C2B40"/>
          </a:solidFill>
          <a:ln w="6350">
            <a:solidFill>
              <a:srgbClr val="1E3A5F"/>
            </a:solidFill>
            <a:prstDash val="solid"/>
          </a:ln>
        </p:spPr>
        <p:txBody>
          <a:bodyPr/>
          <a:lstStyle/>
          <a:p>
            <a:endParaRPr lang="en-IN"/>
          </a:p>
        </p:txBody>
      </p:sp>
      <p:sp>
        <p:nvSpPr>
          <p:cNvPr id="11" name="Shape 9"/>
          <p:cNvSpPr/>
          <p:nvPr/>
        </p:nvSpPr>
        <p:spPr>
          <a:xfrm>
            <a:off x="5897880" y="457200"/>
            <a:ext cx="73152" cy="1261872"/>
          </a:xfrm>
          <a:prstGeom prst="rect">
            <a:avLst/>
          </a:prstGeom>
          <a:solidFill>
            <a:srgbClr val="3B82F6"/>
          </a:solidFill>
          <a:ln w="12700">
            <a:solidFill>
              <a:srgbClr val="3B82F6"/>
            </a:solidFill>
            <a:prstDash val="solid"/>
          </a:ln>
        </p:spPr>
        <p:txBody>
          <a:bodyPr/>
          <a:lstStyle/>
          <a:p>
            <a:endParaRPr lang="en-IN"/>
          </a:p>
        </p:txBody>
      </p:sp>
      <p:sp>
        <p:nvSpPr>
          <p:cNvPr id="12" name="Text 10"/>
          <p:cNvSpPr/>
          <p:nvPr/>
        </p:nvSpPr>
        <p:spPr>
          <a:xfrm>
            <a:off x="6080760" y="566928"/>
            <a:ext cx="2743200" cy="621792"/>
          </a:xfrm>
          <a:prstGeom prst="rect">
            <a:avLst/>
          </a:prstGeom>
          <a:noFill/>
          <a:ln/>
        </p:spPr>
        <p:txBody>
          <a:bodyPr wrap="square" lIns="0" tIns="0" rIns="0" bIns="0" rtlCol="0" anchor="ctr"/>
          <a:lstStyle/>
          <a:p>
            <a:pPr marL="0" indent="0" algn="l">
              <a:buNone/>
            </a:pPr>
            <a:r>
              <a:rPr lang="en-US" sz="4200" b="1" dirty="0">
                <a:solidFill>
                  <a:srgbClr val="3B82F6"/>
                </a:solidFill>
                <a:latin typeface="Georgia" pitchFamily="34" charset="0"/>
                <a:ea typeface="Georgia" pitchFamily="34" charset="-122"/>
                <a:cs typeface="Georgia" pitchFamily="34" charset="-120"/>
              </a:rPr>
              <a:t>10×</a:t>
            </a:r>
            <a:endParaRPr lang="en-US" sz="4200" dirty="0"/>
          </a:p>
        </p:txBody>
      </p:sp>
      <p:sp>
        <p:nvSpPr>
          <p:cNvPr id="13" name="Text 11"/>
          <p:cNvSpPr/>
          <p:nvPr/>
        </p:nvSpPr>
        <p:spPr>
          <a:xfrm>
            <a:off x="6080760" y="1170432"/>
            <a:ext cx="2743200" cy="420624"/>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faster than</a:t>
            </a:r>
            <a:endParaRPr lang="en-US" sz="1050" dirty="0"/>
          </a:p>
          <a:p>
            <a:pPr marL="0" indent="0" algn="l">
              <a:buNone/>
            </a:pPr>
            <a:r>
              <a:rPr lang="en-US" sz="1050" dirty="0">
                <a:solidFill>
                  <a:srgbClr val="94A3B8"/>
                </a:solidFill>
                <a:latin typeface="Calibri" pitchFamily="34" charset="0"/>
                <a:ea typeface="Calibri" pitchFamily="34" charset="-122"/>
                <a:cs typeface="Calibri" pitchFamily="34" charset="-120"/>
              </a:rPr>
              <a:t>manual pentest</a:t>
            </a:r>
            <a:endParaRPr lang="en-US" sz="1050" dirty="0"/>
          </a:p>
        </p:txBody>
      </p:sp>
      <p:sp>
        <p:nvSpPr>
          <p:cNvPr id="14" name="Shape 12"/>
          <p:cNvSpPr/>
          <p:nvPr/>
        </p:nvSpPr>
        <p:spPr>
          <a:xfrm>
            <a:off x="5897880" y="1920240"/>
            <a:ext cx="3017520" cy="1261872"/>
          </a:xfrm>
          <a:prstGeom prst="rect">
            <a:avLst/>
          </a:prstGeom>
          <a:solidFill>
            <a:srgbClr val="1C2B40"/>
          </a:solidFill>
          <a:ln w="6350">
            <a:solidFill>
              <a:srgbClr val="1E3A5F"/>
            </a:solidFill>
            <a:prstDash val="solid"/>
          </a:ln>
        </p:spPr>
        <p:txBody>
          <a:bodyPr/>
          <a:lstStyle/>
          <a:p>
            <a:endParaRPr lang="en-IN"/>
          </a:p>
        </p:txBody>
      </p:sp>
      <p:sp>
        <p:nvSpPr>
          <p:cNvPr id="15" name="Shape 13"/>
          <p:cNvSpPr/>
          <p:nvPr/>
        </p:nvSpPr>
        <p:spPr>
          <a:xfrm>
            <a:off x="5897880" y="1920240"/>
            <a:ext cx="73152" cy="1261872"/>
          </a:xfrm>
          <a:prstGeom prst="rect">
            <a:avLst/>
          </a:prstGeom>
          <a:solidFill>
            <a:srgbClr val="3B82F6"/>
          </a:solidFill>
          <a:ln w="12700">
            <a:solidFill>
              <a:srgbClr val="3B82F6"/>
            </a:solidFill>
            <a:prstDash val="solid"/>
          </a:ln>
        </p:spPr>
        <p:txBody>
          <a:bodyPr/>
          <a:lstStyle/>
          <a:p>
            <a:endParaRPr lang="en-IN"/>
          </a:p>
        </p:txBody>
      </p:sp>
      <p:sp>
        <p:nvSpPr>
          <p:cNvPr id="16" name="Text 14"/>
          <p:cNvSpPr/>
          <p:nvPr/>
        </p:nvSpPr>
        <p:spPr>
          <a:xfrm>
            <a:off x="6080760" y="2029968"/>
            <a:ext cx="2743200" cy="621792"/>
          </a:xfrm>
          <a:prstGeom prst="rect">
            <a:avLst/>
          </a:prstGeom>
          <a:noFill/>
          <a:ln/>
        </p:spPr>
        <p:txBody>
          <a:bodyPr wrap="square" lIns="0" tIns="0" rIns="0" bIns="0" rtlCol="0" anchor="ctr"/>
          <a:lstStyle/>
          <a:p>
            <a:pPr marL="0" indent="0" algn="l">
              <a:buNone/>
            </a:pPr>
            <a:r>
              <a:rPr lang="en-US" sz="4200" b="1" dirty="0">
                <a:solidFill>
                  <a:srgbClr val="3B82F6"/>
                </a:solidFill>
                <a:latin typeface="Georgia" pitchFamily="34" charset="0"/>
                <a:ea typeface="Georgia" pitchFamily="34" charset="-122"/>
                <a:cs typeface="Georgia" pitchFamily="34" charset="-120"/>
              </a:rPr>
              <a:t>90%</a:t>
            </a:r>
            <a:endParaRPr lang="en-US" sz="4200" dirty="0"/>
          </a:p>
        </p:txBody>
      </p:sp>
      <p:sp>
        <p:nvSpPr>
          <p:cNvPr id="17" name="Text 15"/>
          <p:cNvSpPr/>
          <p:nvPr/>
        </p:nvSpPr>
        <p:spPr>
          <a:xfrm>
            <a:off x="6080760" y="2633472"/>
            <a:ext cx="2743200" cy="420624"/>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cost reduction</a:t>
            </a:r>
            <a:endParaRPr lang="en-US" sz="1050" dirty="0"/>
          </a:p>
          <a:p>
            <a:pPr marL="0" indent="0" algn="l">
              <a:buNone/>
            </a:pPr>
            <a:r>
              <a:rPr lang="en-US" sz="1050" dirty="0">
                <a:solidFill>
                  <a:srgbClr val="94A3B8"/>
                </a:solidFill>
                <a:latin typeface="Calibri" pitchFamily="34" charset="0"/>
                <a:ea typeface="Calibri" pitchFamily="34" charset="-122"/>
                <a:cs typeface="Calibri" pitchFamily="34" charset="-120"/>
              </a:rPr>
              <a:t>vs. agency hire</a:t>
            </a:r>
            <a:endParaRPr lang="en-US" sz="1050" dirty="0"/>
          </a:p>
        </p:txBody>
      </p:sp>
      <p:sp>
        <p:nvSpPr>
          <p:cNvPr id="18" name="Shape 16"/>
          <p:cNvSpPr/>
          <p:nvPr/>
        </p:nvSpPr>
        <p:spPr>
          <a:xfrm>
            <a:off x="5897880" y="3383280"/>
            <a:ext cx="3017520" cy="1261872"/>
          </a:xfrm>
          <a:prstGeom prst="rect">
            <a:avLst/>
          </a:prstGeom>
          <a:solidFill>
            <a:srgbClr val="1C2B40"/>
          </a:solidFill>
          <a:ln w="6350">
            <a:solidFill>
              <a:srgbClr val="1E3A5F"/>
            </a:solidFill>
            <a:prstDash val="solid"/>
          </a:ln>
        </p:spPr>
        <p:txBody>
          <a:bodyPr/>
          <a:lstStyle/>
          <a:p>
            <a:endParaRPr lang="en-IN"/>
          </a:p>
        </p:txBody>
      </p:sp>
      <p:sp>
        <p:nvSpPr>
          <p:cNvPr id="19" name="Shape 17"/>
          <p:cNvSpPr/>
          <p:nvPr/>
        </p:nvSpPr>
        <p:spPr>
          <a:xfrm>
            <a:off x="5897880" y="3383280"/>
            <a:ext cx="73152" cy="1261872"/>
          </a:xfrm>
          <a:prstGeom prst="rect">
            <a:avLst/>
          </a:prstGeom>
          <a:solidFill>
            <a:srgbClr val="3B82F6"/>
          </a:solidFill>
          <a:ln w="12700">
            <a:solidFill>
              <a:srgbClr val="3B82F6"/>
            </a:solidFill>
            <a:prstDash val="solid"/>
          </a:ln>
        </p:spPr>
        <p:txBody>
          <a:bodyPr/>
          <a:lstStyle/>
          <a:p>
            <a:endParaRPr lang="en-IN"/>
          </a:p>
        </p:txBody>
      </p:sp>
      <p:sp>
        <p:nvSpPr>
          <p:cNvPr id="20" name="Text 18"/>
          <p:cNvSpPr/>
          <p:nvPr/>
        </p:nvSpPr>
        <p:spPr>
          <a:xfrm>
            <a:off x="6080760" y="3493008"/>
            <a:ext cx="2743200" cy="621792"/>
          </a:xfrm>
          <a:prstGeom prst="rect">
            <a:avLst/>
          </a:prstGeom>
          <a:noFill/>
          <a:ln/>
        </p:spPr>
        <p:txBody>
          <a:bodyPr wrap="square" lIns="0" tIns="0" rIns="0" bIns="0" rtlCol="0" anchor="ctr"/>
          <a:lstStyle/>
          <a:p>
            <a:pPr marL="0" indent="0" algn="l">
              <a:buNone/>
            </a:pPr>
            <a:r>
              <a:rPr lang="en-US" sz="4200" b="1" dirty="0">
                <a:solidFill>
                  <a:srgbClr val="3B82F6"/>
                </a:solidFill>
                <a:latin typeface="Georgia" pitchFamily="34" charset="0"/>
                <a:ea typeface="Georgia" pitchFamily="34" charset="-122"/>
                <a:cs typeface="Georgia" pitchFamily="34" charset="-120"/>
              </a:rPr>
              <a:t>24/7</a:t>
            </a:r>
            <a:endParaRPr lang="en-US" sz="4200" dirty="0"/>
          </a:p>
        </p:txBody>
      </p:sp>
      <p:sp>
        <p:nvSpPr>
          <p:cNvPr id="21" name="Text 19"/>
          <p:cNvSpPr/>
          <p:nvPr/>
        </p:nvSpPr>
        <p:spPr>
          <a:xfrm>
            <a:off x="6080760" y="4096512"/>
            <a:ext cx="2743200" cy="420624"/>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continuous</a:t>
            </a:r>
            <a:endParaRPr lang="en-US" sz="1050" dirty="0"/>
          </a:p>
          <a:p>
            <a:pPr marL="0" indent="0" algn="l">
              <a:buNone/>
            </a:pPr>
            <a:r>
              <a:rPr lang="en-US" sz="1050" dirty="0">
                <a:solidFill>
                  <a:srgbClr val="94A3B8"/>
                </a:solidFill>
                <a:latin typeface="Calibri" pitchFamily="34" charset="0"/>
                <a:ea typeface="Calibri" pitchFamily="34" charset="-122"/>
                <a:cs typeface="Calibri" pitchFamily="34" charset="-120"/>
              </a:rPr>
              <a:t>threat coverage</a:t>
            </a:r>
            <a:endParaRPr lang="en-US" sz="1050" dirty="0"/>
          </a:p>
        </p:txBody>
      </p:sp>
      <p:sp>
        <p:nvSpPr>
          <p:cNvPr id="22" name="Text 20"/>
          <p:cNvSpPr/>
          <p:nvPr/>
        </p:nvSpPr>
        <p:spPr>
          <a:xfrm>
            <a:off x="347472" y="4873752"/>
            <a:ext cx="8412480" cy="219456"/>
          </a:xfrm>
          <a:prstGeom prst="rect">
            <a:avLst/>
          </a:prstGeom>
          <a:noFill/>
          <a:ln/>
        </p:spPr>
        <p:txBody>
          <a:bodyPr wrap="square" lIns="0" tIns="0" rIns="0" bIns="0" rtlCol="0" anchor="ctr"/>
          <a:lstStyle/>
          <a:p>
            <a:pPr marL="0" indent="0" algn="l">
              <a:buNone/>
            </a:pPr>
            <a:r>
              <a:rPr lang="en-US" sz="1100" b="1" dirty="0">
                <a:solidFill>
                  <a:srgbClr val="0B1120"/>
                </a:solidFill>
                <a:latin typeface="Calibri" pitchFamily="34" charset="0"/>
                <a:ea typeface="Calibri" pitchFamily="34" charset="-122"/>
                <a:cs typeface="Calibri" pitchFamily="34" charset="-120"/>
              </a:rPr>
              <a:t>Agentic AI Hackathon —  ·  Round 0 Submission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EB"/>
          </a:solidFill>
          <a:ln w="12700">
            <a:solidFill>
              <a:srgbClr val="2563EB"/>
            </a:solidFill>
            <a:prstDash val="solid"/>
          </a:ln>
        </p:spPr>
        <p:txBody>
          <a:bodyPr/>
          <a:lstStyle/>
          <a:p>
            <a:endParaRPr lang="en-IN"/>
          </a:p>
        </p:txBody>
      </p:sp>
      <p:sp>
        <p:nvSpPr>
          <p:cNvPr id="3" name="Shape 1"/>
          <p:cNvSpPr/>
          <p:nvPr/>
        </p:nvSpPr>
        <p:spPr>
          <a:xfrm>
            <a:off x="0" y="0"/>
            <a:ext cx="9144000" cy="1005840"/>
          </a:xfrm>
          <a:prstGeom prst="rect">
            <a:avLst/>
          </a:prstGeom>
          <a:solidFill>
            <a:srgbClr val="0B1120"/>
          </a:solidFill>
          <a:ln w="12700">
            <a:solidFill>
              <a:srgbClr val="0B1120"/>
            </a:solidFill>
            <a:prstDash val="solid"/>
          </a:ln>
        </p:spPr>
        <p:txBody>
          <a:bodyPr/>
          <a:lstStyle/>
          <a:p>
            <a:endParaRPr lang="en-IN"/>
          </a:p>
        </p:txBody>
      </p:sp>
      <p:sp>
        <p:nvSpPr>
          <p:cNvPr id="4" name="Text 2"/>
          <p:cNvSpPr/>
          <p:nvPr/>
        </p:nvSpPr>
        <p:spPr>
          <a:xfrm>
            <a:off x="347472" y="109728"/>
            <a:ext cx="5486400" cy="475488"/>
          </a:xfrm>
          <a:prstGeom prst="rect">
            <a:avLst/>
          </a:prstGeom>
          <a:noFill/>
          <a:ln/>
        </p:spPr>
        <p:txBody>
          <a:bodyPr wrap="square" lIns="0" tIns="0" rIns="0" bIns="0" rtlCol="0" anchor="ctr"/>
          <a:lstStyle/>
          <a:p>
            <a:pPr marL="0" indent="0" algn="l">
              <a:buNone/>
            </a:pPr>
            <a:r>
              <a:rPr lang="en-US" sz="2600" b="1" dirty="0">
                <a:solidFill>
                  <a:srgbClr val="F8FAFC"/>
                </a:solidFill>
                <a:latin typeface="Georgia" pitchFamily="34" charset="0"/>
                <a:ea typeface="Georgia" pitchFamily="34" charset="-122"/>
                <a:cs typeface="Georgia" pitchFamily="34" charset="-120"/>
              </a:rPr>
              <a:t>The Problem</a:t>
            </a:r>
            <a:endParaRPr lang="en-US" sz="2600" dirty="0"/>
          </a:p>
        </p:txBody>
      </p:sp>
      <p:sp>
        <p:nvSpPr>
          <p:cNvPr id="5" name="Text 3"/>
          <p:cNvSpPr/>
          <p:nvPr/>
        </p:nvSpPr>
        <p:spPr>
          <a:xfrm>
            <a:off x="347472" y="585216"/>
            <a:ext cx="73152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Organisations are exposed. Testing is too expensive, too slow, too rare.</a:t>
            </a:r>
            <a:endParaRPr lang="en-US" sz="1200" dirty="0"/>
          </a:p>
        </p:txBody>
      </p:sp>
      <p:sp>
        <p:nvSpPr>
          <p:cNvPr id="6" name="Shape 4"/>
          <p:cNvSpPr/>
          <p:nvPr/>
        </p:nvSpPr>
        <p:spPr>
          <a:xfrm>
            <a:off x="228600" y="1097280"/>
            <a:ext cx="2834640" cy="3703320"/>
          </a:xfrm>
          <a:prstGeom prst="rect">
            <a:avLst/>
          </a:prstGeom>
          <a:solidFill>
            <a:srgbClr val="F8FAFC"/>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IN"/>
          </a:p>
        </p:txBody>
      </p:sp>
      <p:sp>
        <p:nvSpPr>
          <p:cNvPr id="7" name="Shape 5"/>
          <p:cNvSpPr/>
          <p:nvPr/>
        </p:nvSpPr>
        <p:spPr>
          <a:xfrm>
            <a:off x="228600" y="1097280"/>
            <a:ext cx="2834640" cy="73152"/>
          </a:xfrm>
          <a:prstGeom prst="rect">
            <a:avLst/>
          </a:prstGeom>
          <a:solidFill>
            <a:srgbClr val="DC2626"/>
          </a:solidFill>
          <a:ln w="12700">
            <a:solidFill>
              <a:srgbClr val="DC2626"/>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411480" y="1225296"/>
            <a:ext cx="329184" cy="329184"/>
          </a:xfrm>
          <a:prstGeom prst="rect">
            <a:avLst/>
          </a:prstGeom>
        </p:spPr>
      </p:pic>
      <p:sp>
        <p:nvSpPr>
          <p:cNvPr id="9" name="Text 6"/>
          <p:cNvSpPr/>
          <p:nvPr/>
        </p:nvSpPr>
        <p:spPr>
          <a:xfrm>
            <a:off x="813816" y="1188720"/>
            <a:ext cx="2157984" cy="402336"/>
          </a:xfrm>
          <a:prstGeom prst="rect">
            <a:avLst/>
          </a:prstGeom>
          <a:noFill/>
          <a:ln/>
        </p:spPr>
        <p:txBody>
          <a:bodyPr wrap="square" lIns="0" tIns="0" rIns="0" bIns="0" rtlCol="0" anchor="ctr"/>
          <a:lstStyle/>
          <a:p>
            <a:pPr marL="0" indent="0" algn="l">
              <a:buNone/>
            </a:pPr>
            <a:r>
              <a:rPr lang="en-US" sz="1200" b="1" dirty="0">
                <a:solidFill>
                  <a:srgbClr val="1E293B"/>
                </a:solidFill>
                <a:latin typeface="Georgia" pitchFamily="34" charset="0"/>
                <a:ea typeface="Georgia" pitchFamily="34" charset="-122"/>
                <a:cs typeface="Georgia" pitchFamily="34" charset="-120"/>
              </a:rPr>
              <a:t>Unaffordable for most</a:t>
            </a:r>
            <a:endParaRPr lang="en-US" sz="1200" dirty="0"/>
          </a:p>
        </p:txBody>
      </p:sp>
      <p:sp>
        <p:nvSpPr>
          <p:cNvPr id="10" name="Shape 7"/>
          <p:cNvSpPr/>
          <p:nvPr/>
        </p:nvSpPr>
        <p:spPr>
          <a:xfrm>
            <a:off x="411480" y="1664208"/>
            <a:ext cx="2468880" cy="0"/>
          </a:xfrm>
          <a:prstGeom prst="line">
            <a:avLst/>
          </a:prstGeom>
          <a:noFill/>
          <a:ln w="6350">
            <a:solidFill>
              <a:srgbClr val="E2E8F0"/>
            </a:solidFill>
            <a:prstDash val="solid"/>
          </a:ln>
        </p:spPr>
        <p:txBody>
          <a:bodyPr/>
          <a:lstStyle/>
          <a:p>
            <a:endParaRPr lang="en-IN"/>
          </a:p>
        </p:txBody>
      </p:sp>
      <p:sp>
        <p:nvSpPr>
          <p:cNvPr id="11" name="Text 8"/>
          <p:cNvSpPr/>
          <p:nvPr/>
        </p:nvSpPr>
        <p:spPr>
          <a:xfrm>
            <a:off x="393192" y="1737360"/>
            <a:ext cx="2560320" cy="603504"/>
          </a:xfrm>
          <a:prstGeom prst="rect">
            <a:avLst/>
          </a:prstGeom>
          <a:noFill/>
          <a:ln/>
        </p:spPr>
        <p:txBody>
          <a:bodyPr wrap="square" lIns="0" tIns="0" rIns="0" bIns="0" rtlCol="0" anchor="t"/>
          <a:lstStyle/>
          <a:p>
            <a:pPr marL="0" indent="0" algn="l">
              <a:buNone/>
            </a:pPr>
            <a:r>
              <a:rPr lang="en-US" sz="1000" b="1" dirty="0">
                <a:solidFill>
                  <a:srgbClr val="DC262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External pentest agencies charge ₹50K–₹5L per engagement</a:t>
            </a:r>
            <a:endParaRPr lang="en-US" sz="1000" dirty="0"/>
          </a:p>
        </p:txBody>
      </p:sp>
      <p:sp>
        <p:nvSpPr>
          <p:cNvPr id="12" name="Text 9"/>
          <p:cNvSpPr/>
          <p:nvPr/>
        </p:nvSpPr>
        <p:spPr>
          <a:xfrm>
            <a:off x="393192" y="2395728"/>
            <a:ext cx="2560320" cy="603504"/>
          </a:xfrm>
          <a:prstGeom prst="rect">
            <a:avLst/>
          </a:prstGeom>
          <a:noFill/>
          <a:ln/>
        </p:spPr>
        <p:txBody>
          <a:bodyPr wrap="square" lIns="0" tIns="0" rIns="0" bIns="0" rtlCol="0" anchor="t"/>
          <a:lstStyle/>
          <a:p>
            <a:pPr marL="0" indent="0" algn="l">
              <a:buNone/>
            </a:pPr>
            <a:r>
              <a:rPr lang="en-US" sz="1000" b="1" dirty="0">
                <a:solidFill>
                  <a:srgbClr val="DC262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SMEs and colleges simply don't budget for it</a:t>
            </a:r>
            <a:endParaRPr lang="en-US" sz="1000" dirty="0"/>
          </a:p>
        </p:txBody>
      </p:sp>
      <p:sp>
        <p:nvSpPr>
          <p:cNvPr id="13" name="Text 10"/>
          <p:cNvSpPr/>
          <p:nvPr/>
        </p:nvSpPr>
        <p:spPr>
          <a:xfrm>
            <a:off x="393192" y="3054096"/>
            <a:ext cx="2560320" cy="603504"/>
          </a:xfrm>
          <a:prstGeom prst="rect">
            <a:avLst/>
          </a:prstGeom>
          <a:noFill/>
          <a:ln/>
        </p:spPr>
        <p:txBody>
          <a:bodyPr wrap="square" lIns="0" tIns="0" rIns="0" bIns="0" rtlCol="0" anchor="t"/>
          <a:lstStyle/>
          <a:p>
            <a:pPr marL="0" indent="0" algn="l">
              <a:buNone/>
            </a:pPr>
            <a:r>
              <a:rPr lang="en-US" sz="1000" b="1" dirty="0">
                <a:solidFill>
                  <a:srgbClr val="DC262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IT departments fill the gap — slowly, incompletely</a:t>
            </a:r>
            <a:endParaRPr lang="en-US" sz="1000" dirty="0"/>
          </a:p>
        </p:txBody>
      </p:sp>
      <p:sp>
        <p:nvSpPr>
          <p:cNvPr id="14" name="Text 11"/>
          <p:cNvSpPr/>
          <p:nvPr/>
        </p:nvSpPr>
        <p:spPr>
          <a:xfrm>
            <a:off x="393192" y="3712464"/>
            <a:ext cx="2560320" cy="603504"/>
          </a:xfrm>
          <a:prstGeom prst="rect">
            <a:avLst/>
          </a:prstGeom>
          <a:noFill/>
          <a:ln/>
        </p:spPr>
        <p:txBody>
          <a:bodyPr wrap="square" lIns="0" tIns="0" rIns="0" bIns="0" rtlCol="0" anchor="t"/>
          <a:lstStyle/>
          <a:p>
            <a:pPr marL="0" indent="0" algn="l">
              <a:buNone/>
            </a:pPr>
            <a:r>
              <a:rPr lang="en-US" sz="1000" b="1" dirty="0">
                <a:solidFill>
                  <a:srgbClr val="DC262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Critical vulnerabilities go undetected for months</a:t>
            </a:r>
            <a:endParaRPr lang="en-US" sz="1000" dirty="0"/>
          </a:p>
        </p:txBody>
      </p:sp>
      <p:sp>
        <p:nvSpPr>
          <p:cNvPr id="15" name="Shape 12"/>
          <p:cNvSpPr/>
          <p:nvPr/>
        </p:nvSpPr>
        <p:spPr>
          <a:xfrm>
            <a:off x="3200400" y="1097280"/>
            <a:ext cx="2834640" cy="3703320"/>
          </a:xfrm>
          <a:prstGeom prst="rect">
            <a:avLst/>
          </a:prstGeom>
          <a:solidFill>
            <a:srgbClr val="F8FAFC"/>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IN"/>
          </a:p>
        </p:txBody>
      </p:sp>
      <p:sp>
        <p:nvSpPr>
          <p:cNvPr id="16" name="Shape 13"/>
          <p:cNvSpPr/>
          <p:nvPr/>
        </p:nvSpPr>
        <p:spPr>
          <a:xfrm>
            <a:off x="3200400" y="1097280"/>
            <a:ext cx="2834640" cy="73152"/>
          </a:xfrm>
          <a:prstGeom prst="rect">
            <a:avLst/>
          </a:prstGeom>
          <a:solidFill>
            <a:srgbClr val="D97706"/>
          </a:solidFill>
          <a:ln w="12700">
            <a:solidFill>
              <a:srgbClr val="D97706"/>
            </a:solidFill>
            <a:prstDash val="solid"/>
          </a:ln>
        </p:spPr>
        <p:txBody>
          <a:bodyPr/>
          <a:lstStyle/>
          <a:p>
            <a:endParaRPr lang="en-IN"/>
          </a:p>
        </p:txBody>
      </p:sp>
      <p:pic>
        <p:nvPicPr>
          <p:cNvPr id="17" name="Image 1" descr="preencoded.png"/>
          <p:cNvPicPr>
            <a:picLocks noChangeAspect="1"/>
          </p:cNvPicPr>
          <p:nvPr/>
        </p:nvPicPr>
        <p:blipFill>
          <a:blip r:embed="rId4"/>
          <a:stretch>
            <a:fillRect/>
          </a:stretch>
        </p:blipFill>
        <p:spPr>
          <a:xfrm>
            <a:off x="3383280" y="1225296"/>
            <a:ext cx="329184" cy="329184"/>
          </a:xfrm>
          <a:prstGeom prst="rect">
            <a:avLst/>
          </a:prstGeom>
        </p:spPr>
      </p:pic>
      <p:sp>
        <p:nvSpPr>
          <p:cNvPr id="18" name="Text 14"/>
          <p:cNvSpPr/>
          <p:nvPr/>
        </p:nvSpPr>
        <p:spPr>
          <a:xfrm>
            <a:off x="3785616" y="1188720"/>
            <a:ext cx="2157984" cy="402336"/>
          </a:xfrm>
          <a:prstGeom prst="rect">
            <a:avLst/>
          </a:prstGeom>
          <a:noFill/>
          <a:ln/>
        </p:spPr>
        <p:txBody>
          <a:bodyPr wrap="square" lIns="0" tIns="0" rIns="0" bIns="0" rtlCol="0" anchor="ctr"/>
          <a:lstStyle/>
          <a:p>
            <a:pPr marL="0" indent="0" algn="l">
              <a:buNone/>
            </a:pPr>
            <a:r>
              <a:rPr lang="en-US" sz="1200" b="1" dirty="0">
                <a:solidFill>
                  <a:srgbClr val="1E293B"/>
                </a:solidFill>
                <a:latin typeface="Georgia" pitchFamily="34" charset="0"/>
                <a:ea typeface="Georgia" pitchFamily="34" charset="-122"/>
                <a:cs typeface="Georgia" pitchFamily="34" charset="-120"/>
              </a:rPr>
              <a:t>Too slow to matter</a:t>
            </a:r>
            <a:endParaRPr lang="en-US" sz="1200" dirty="0"/>
          </a:p>
        </p:txBody>
      </p:sp>
      <p:sp>
        <p:nvSpPr>
          <p:cNvPr id="19" name="Shape 15"/>
          <p:cNvSpPr/>
          <p:nvPr/>
        </p:nvSpPr>
        <p:spPr>
          <a:xfrm>
            <a:off x="3383280" y="1664208"/>
            <a:ext cx="2468880" cy="0"/>
          </a:xfrm>
          <a:prstGeom prst="line">
            <a:avLst/>
          </a:prstGeom>
          <a:noFill/>
          <a:ln w="6350">
            <a:solidFill>
              <a:srgbClr val="E2E8F0"/>
            </a:solidFill>
            <a:prstDash val="solid"/>
          </a:ln>
        </p:spPr>
        <p:txBody>
          <a:bodyPr/>
          <a:lstStyle/>
          <a:p>
            <a:endParaRPr lang="en-IN"/>
          </a:p>
        </p:txBody>
      </p:sp>
      <p:sp>
        <p:nvSpPr>
          <p:cNvPr id="20" name="Text 16"/>
          <p:cNvSpPr/>
          <p:nvPr/>
        </p:nvSpPr>
        <p:spPr>
          <a:xfrm>
            <a:off x="3364992" y="1737360"/>
            <a:ext cx="2560320" cy="603504"/>
          </a:xfrm>
          <a:prstGeom prst="rect">
            <a:avLst/>
          </a:prstGeom>
          <a:noFill/>
          <a:ln/>
        </p:spPr>
        <p:txBody>
          <a:bodyPr wrap="square" lIns="0" tIns="0" rIns="0" bIns="0" rtlCol="0" anchor="t"/>
          <a:lstStyle/>
          <a:p>
            <a:pPr marL="0" indent="0" algn="l">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Manual assessments take 3–10 business days</a:t>
            </a:r>
            <a:endParaRPr lang="en-US" sz="1000" dirty="0"/>
          </a:p>
        </p:txBody>
      </p:sp>
      <p:sp>
        <p:nvSpPr>
          <p:cNvPr id="21" name="Text 17"/>
          <p:cNvSpPr/>
          <p:nvPr/>
        </p:nvSpPr>
        <p:spPr>
          <a:xfrm>
            <a:off x="3364992" y="2395728"/>
            <a:ext cx="2560320" cy="603504"/>
          </a:xfrm>
          <a:prstGeom prst="rect">
            <a:avLst/>
          </a:prstGeom>
          <a:noFill/>
          <a:ln/>
        </p:spPr>
        <p:txBody>
          <a:bodyPr wrap="square" lIns="0" tIns="0" rIns="0" bIns="0" rtlCol="0" anchor="t"/>
          <a:lstStyle/>
          <a:p>
            <a:pPr marL="0" indent="0" algn="l">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Findings are outdated before the report is delivered</a:t>
            </a:r>
            <a:endParaRPr lang="en-US" sz="1000" dirty="0"/>
          </a:p>
        </p:txBody>
      </p:sp>
      <p:sp>
        <p:nvSpPr>
          <p:cNvPr id="22" name="Text 18"/>
          <p:cNvSpPr/>
          <p:nvPr/>
        </p:nvSpPr>
        <p:spPr>
          <a:xfrm>
            <a:off x="3364992" y="3054096"/>
            <a:ext cx="2560320" cy="603504"/>
          </a:xfrm>
          <a:prstGeom prst="rect">
            <a:avLst/>
          </a:prstGeom>
          <a:noFill/>
          <a:ln/>
        </p:spPr>
        <p:txBody>
          <a:bodyPr wrap="square" lIns="0" tIns="0" rIns="0" bIns="0" rtlCol="0" anchor="t"/>
          <a:lstStyle/>
          <a:p>
            <a:pPr marL="0" indent="0" algn="l">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CI/CD pipelines ship new code daily — testing can't keep up</a:t>
            </a:r>
            <a:endParaRPr lang="en-US" sz="1000" dirty="0"/>
          </a:p>
        </p:txBody>
      </p:sp>
      <p:sp>
        <p:nvSpPr>
          <p:cNvPr id="23" name="Text 19"/>
          <p:cNvSpPr/>
          <p:nvPr/>
        </p:nvSpPr>
        <p:spPr>
          <a:xfrm>
            <a:off x="3364992" y="3712464"/>
            <a:ext cx="2560320" cy="603504"/>
          </a:xfrm>
          <a:prstGeom prst="rect">
            <a:avLst/>
          </a:prstGeom>
          <a:noFill/>
          <a:ln/>
        </p:spPr>
        <p:txBody>
          <a:bodyPr wrap="square" lIns="0" tIns="0" rIns="0" bIns="0" rtlCol="0" anchor="t"/>
          <a:lstStyle/>
          <a:p>
            <a:pPr marL="0" indent="0" algn="l">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One-time audits miss vulnerabilities introduced post-engagement</a:t>
            </a:r>
            <a:endParaRPr lang="en-US" sz="1000" dirty="0"/>
          </a:p>
        </p:txBody>
      </p:sp>
      <p:sp>
        <p:nvSpPr>
          <p:cNvPr id="24" name="Shape 20"/>
          <p:cNvSpPr/>
          <p:nvPr/>
        </p:nvSpPr>
        <p:spPr>
          <a:xfrm>
            <a:off x="6172200" y="1097280"/>
            <a:ext cx="2834640" cy="3703320"/>
          </a:xfrm>
          <a:prstGeom prst="rect">
            <a:avLst/>
          </a:prstGeom>
          <a:solidFill>
            <a:srgbClr val="F8FAFC"/>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IN"/>
          </a:p>
        </p:txBody>
      </p:sp>
      <p:sp>
        <p:nvSpPr>
          <p:cNvPr id="25" name="Shape 21"/>
          <p:cNvSpPr/>
          <p:nvPr/>
        </p:nvSpPr>
        <p:spPr>
          <a:xfrm>
            <a:off x="6172200" y="1097280"/>
            <a:ext cx="2834640" cy="73152"/>
          </a:xfrm>
          <a:prstGeom prst="rect">
            <a:avLst/>
          </a:prstGeom>
          <a:solidFill>
            <a:srgbClr val="2563EB"/>
          </a:solidFill>
          <a:ln w="12700">
            <a:solidFill>
              <a:srgbClr val="2563EB"/>
            </a:solidFill>
            <a:prstDash val="solid"/>
          </a:ln>
        </p:spPr>
        <p:txBody>
          <a:bodyPr/>
          <a:lstStyle/>
          <a:p>
            <a:endParaRPr lang="en-IN"/>
          </a:p>
        </p:txBody>
      </p:sp>
      <p:pic>
        <p:nvPicPr>
          <p:cNvPr id="26" name="Image 2" descr="preencoded.png"/>
          <p:cNvPicPr>
            <a:picLocks noChangeAspect="1"/>
          </p:cNvPicPr>
          <p:nvPr/>
        </p:nvPicPr>
        <p:blipFill>
          <a:blip r:embed="rId5"/>
          <a:stretch>
            <a:fillRect/>
          </a:stretch>
        </p:blipFill>
        <p:spPr>
          <a:xfrm>
            <a:off x="6355080" y="1225296"/>
            <a:ext cx="329184" cy="329184"/>
          </a:xfrm>
          <a:prstGeom prst="rect">
            <a:avLst/>
          </a:prstGeom>
        </p:spPr>
      </p:pic>
      <p:sp>
        <p:nvSpPr>
          <p:cNvPr id="27" name="Text 22"/>
          <p:cNvSpPr/>
          <p:nvPr/>
        </p:nvSpPr>
        <p:spPr>
          <a:xfrm>
            <a:off x="6757416" y="1188720"/>
            <a:ext cx="2157984" cy="402336"/>
          </a:xfrm>
          <a:prstGeom prst="rect">
            <a:avLst/>
          </a:prstGeom>
          <a:noFill/>
          <a:ln/>
        </p:spPr>
        <p:txBody>
          <a:bodyPr wrap="square" lIns="0" tIns="0" rIns="0" bIns="0" rtlCol="0" anchor="ctr"/>
          <a:lstStyle/>
          <a:p>
            <a:pPr marL="0" indent="0" algn="l">
              <a:buNone/>
            </a:pPr>
            <a:r>
              <a:rPr lang="en-US" sz="1200" b="1" dirty="0">
                <a:solidFill>
                  <a:srgbClr val="1E293B"/>
                </a:solidFill>
                <a:latin typeface="Georgia" pitchFamily="34" charset="0"/>
                <a:ea typeface="Georgia" pitchFamily="34" charset="-122"/>
                <a:cs typeface="Georgia" pitchFamily="34" charset="-120"/>
              </a:rPr>
              <a:t>Compliance left behind</a:t>
            </a:r>
            <a:endParaRPr lang="en-US" sz="1200" dirty="0"/>
          </a:p>
        </p:txBody>
      </p:sp>
      <p:sp>
        <p:nvSpPr>
          <p:cNvPr id="28" name="Shape 23"/>
          <p:cNvSpPr/>
          <p:nvPr/>
        </p:nvSpPr>
        <p:spPr>
          <a:xfrm>
            <a:off x="6355080" y="1664208"/>
            <a:ext cx="2468880" cy="0"/>
          </a:xfrm>
          <a:prstGeom prst="line">
            <a:avLst/>
          </a:prstGeom>
          <a:noFill/>
          <a:ln w="6350">
            <a:solidFill>
              <a:srgbClr val="E2E8F0"/>
            </a:solidFill>
            <a:prstDash val="solid"/>
          </a:ln>
        </p:spPr>
        <p:txBody>
          <a:bodyPr/>
          <a:lstStyle/>
          <a:p>
            <a:endParaRPr lang="en-IN"/>
          </a:p>
        </p:txBody>
      </p:sp>
      <p:sp>
        <p:nvSpPr>
          <p:cNvPr id="29" name="Text 24"/>
          <p:cNvSpPr/>
          <p:nvPr/>
        </p:nvSpPr>
        <p:spPr>
          <a:xfrm>
            <a:off x="6336792" y="1737360"/>
            <a:ext cx="2560320" cy="603504"/>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ISO 27001, SOC 2, PCI-DSS require regular threat modelling</a:t>
            </a:r>
            <a:endParaRPr lang="en-US" sz="1000" dirty="0"/>
          </a:p>
        </p:txBody>
      </p:sp>
      <p:sp>
        <p:nvSpPr>
          <p:cNvPr id="30" name="Text 25"/>
          <p:cNvSpPr/>
          <p:nvPr/>
        </p:nvSpPr>
        <p:spPr>
          <a:xfrm>
            <a:off x="6336792" y="2395728"/>
            <a:ext cx="2560320" cy="603504"/>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Regulators want evidence of continuous testing — not annual snapshots</a:t>
            </a:r>
            <a:endParaRPr lang="en-US" sz="1000" dirty="0"/>
          </a:p>
        </p:txBody>
      </p:sp>
      <p:sp>
        <p:nvSpPr>
          <p:cNvPr id="31" name="Text 26"/>
          <p:cNvSpPr/>
          <p:nvPr/>
        </p:nvSpPr>
        <p:spPr>
          <a:xfrm>
            <a:off x="6336792" y="3054096"/>
            <a:ext cx="2560320" cy="603504"/>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Educational institutions skip it entirely — no budget, no mandate</a:t>
            </a:r>
            <a:endParaRPr lang="en-US" sz="1000" dirty="0"/>
          </a:p>
        </p:txBody>
      </p:sp>
      <p:sp>
        <p:nvSpPr>
          <p:cNvPr id="32" name="Text 27"/>
          <p:cNvSpPr/>
          <p:nvPr/>
        </p:nvSpPr>
        <p:spPr>
          <a:xfrm>
            <a:off x="6336792" y="3712464"/>
            <a:ext cx="2560320" cy="603504"/>
          </a:xfrm>
          <a:prstGeom prst="rect">
            <a:avLst/>
          </a:prstGeom>
          <a:noFill/>
          <a:ln/>
        </p:spPr>
        <p:txBody>
          <a:bodyPr wrap="square" lIns="0" tIns="0" rIns="0" bIns="0" rtlCol="0" anchor="t"/>
          <a:lstStyle/>
          <a:p>
            <a:pPr marL="0" indent="0" algn="l">
              <a:buNone/>
            </a:pPr>
            <a:r>
              <a:rPr lang="en-US" sz="1000" b="1" dirty="0">
                <a:solidFill>
                  <a:srgbClr val="2563EB"/>
                </a:solidFill>
                <a:latin typeface="Calibri" pitchFamily="34" charset="0"/>
                <a:ea typeface="Calibri" pitchFamily="34" charset="-122"/>
                <a:cs typeface="Calibri" pitchFamily="34" charset="-120"/>
              </a:rPr>
              <a:t>—  </a:t>
            </a:r>
            <a:r>
              <a:rPr lang="en-US" sz="1000" dirty="0">
                <a:solidFill>
                  <a:srgbClr val="334155"/>
                </a:solidFill>
                <a:latin typeface="Calibri" pitchFamily="34" charset="0"/>
                <a:ea typeface="Calibri" pitchFamily="34" charset="-122"/>
                <a:cs typeface="Calibri" pitchFamily="34" charset="-120"/>
              </a:rPr>
              <a:t>Internal IT teams lack specialist red-team skills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7706"/>
          </a:solidFill>
          <a:ln w="12700">
            <a:solidFill>
              <a:srgbClr val="D97706"/>
            </a:solidFill>
            <a:prstDash val="solid"/>
          </a:ln>
        </p:spPr>
        <p:txBody>
          <a:bodyPr/>
          <a:lstStyle/>
          <a:p>
            <a:endParaRPr lang="en-IN"/>
          </a:p>
        </p:txBody>
      </p:sp>
      <p:sp>
        <p:nvSpPr>
          <p:cNvPr id="3" name="Text 1"/>
          <p:cNvSpPr/>
          <p:nvPr/>
        </p:nvSpPr>
        <p:spPr>
          <a:xfrm>
            <a:off x="365760" y="182880"/>
            <a:ext cx="6400800" cy="457200"/>
          </a:xfrm>
          <a:prstGeom prst="rect">
            <a:avLst/>
          </a:prstGeom>
          <a:noFill/>
          <a:ln/>
        </p:spPr>
        <p:txBody>
          <a:bodyPr wrap="square" lIns="0" tIns="0" rIns="0" bIns="0" rtlCol="0" anchor="ctr"/>
          <a:lstStyle/>
          <a:p>
            <a:pPr marL="0" indent="0" algn="l">
              <a:buNone/>
            </a:pPr>
            <a:r>
              <a:rPr lang="en-US" sz="2600" b="1" dirty="0">
                <a:solidFill>
                  <a:srgbClr val="F8FAFC"/>
                </a:solidFill>
                <a:latin typeface="Georgia" pitchFamily="34" charset="0"/>
                <a:ea typeface="Georgia" pitchFamily="34" charset="-122"/>
                <a:cs typeface="Georgia" pitchFamily="34" charset="-120"/>
              </a:rPr>
              <a:t>Who PHANTOM Serves</a:t>
            </a:r>
            <a:endParaRPr lang="en-US" sz="2600" dirty="0"/>
          </a:p>
        </p:txBody>
      </p:sp>
      <p:sp>
        <p:nvSpPr>
          <p:cNvPr id="4" name="Shape 2"/>
          <p:cNvSpPr/>
          <p:nvPr/>
        </p:nvSpPr>
        <p:spPr>
          <a:xfrm>
            <a:off x="365760" y="676656"/>
            <a:ext cx="2011680" cy="0"/>
          </a:xfrm>
          <a:prstGeom prst="line">
            <a:avLst/>
          </a:prstGeom>
          <a:noFill/>
          <a:ln w="19050">
            <a:solidFill>
              <a:srgbClr val="D97706"/>
            </a:solidFill>
            <a:prstDash val="solid"/>
          </a:ln>
        </p:spPr>
        <p:txBody>
          <a:bodyPr/>
          <a:lstStyle/>
          <a:p>
            <a:endParaRPr lang="en-IN"/>
          </a:p>
        </p:txBody>
      </p:sp>
      <p:sp>
        <p:nvSpPr>
          <p:cNvPr id="5" name="Text 3"/>
          <p:cNvSpPr/>
          <p:nvPr/>
        </p:nvSpPr>
        <p:spPr>
          <a:xfrm>
            <a:off x="365760" y="749808"/>
            <a:ext cx="8229600" cy="256032"/>
          </a:xfrm>
          <a:prstGeom prst="rect">
            <a:avLst/>
          </a:prstGeom>
          <a:noFill/>
          <a:ln/>
        </p:spPr>
        <p:txBody>
          <a:bodyPr wrap="square" lIns="0" tIns="0" rIns="0" bIns="0" rtlCol="0" anchor="ctr"/>
          <a:lstStyle/>
          <a:p>
            <a:pPr marL="0" indent="0" algn="l">
              <a:buNone/>
            </a:pPr>
            <a:r>
              <a:rPr lang="en-US" sz="1100" i="1" dirty="0">
                <a:solidFill>
                  <a:srgbClr val="94A3B8"/>
                </a:solidFill>
                <a:latin typeface="Calibri" pitchFamily="34" charset="0"/>
                <a:ea typeface="Calibri" pitchFamily="34" charset="-122"/>
                <a:cs typeface="Calibri" pitchFamily="34" charset="-120"/>
              </a:rPr>
              <a:t>Four underserved segments where security testing is broken today</a:t>
            </a:r>
            <a:endParaRPr lang="en-US" sz="1100" dirty="0"/>
          </a:p>
        </p:txBody>
      </p:sp>
      <p:sp>
        <p:nvSpPr>
          <p:cNvPr id="6" name="Shape 4"/>
          <p:cNvSpPr/>
          <p:nvPr/>
        </p:nvSpPr>
        <p:spPr>
          <a:xfrm>
            <a:off x="201168" y="1115568"/>
            <a:ext cx="4206240" cy="1719072"/>
          </a:xfrm>
          <a:prstGeom prst="rect">
            <a:avLst/>
          </a:prstGeom>
          <a:solidFill>
            <a:srgbClr val="0F2040"/>
          </a:solidFill>
          <a:ln w="6350">
            <a:solidFill>
              <a:srgbClr val="334155"/>
            </a:solidFill>
            <a:prstDash val="solid"/>
          </a:ln>
        </p:spPr>
        <p:txBody>
          <a:bodyPr/>
          <a:lstStyle/>
          <a:p>
            <a:endParaRPr lang="en-IN" sz="2400"/>
          </a:p>
        </p:txBody>
      </p:sp>
      <p:sp>
        <p:nvSpPr>
          <p:cNvPr id="7" name="Shape 5"/>
          <p:cNvSpPr/>
          <p:nvPr/>
        </p:nvSpPr>
        <p:spPr>
          <a:xfrm>
            <a:off x="201168" y="1115568"/>
            <a:ext cx="4206240" cy="64008"/>
          </a:xfrm>
          <a:prstGeom prst="rect">
            <a:avLst/>
          </a:prstGeom>
          <a:solidFill>
            <a:srgbClr val="3B82F6"/>
          </a:solidFill>
          <a:ln w="12700">
            <a:solidFill>
              <a:srgbClr val="3B82F6"/>
            </a:solidFill>
            <a:prstDash val="solid"/>
          </a:ln>
        </p:spPr>
        <p:txBody>
          <a:bodyPr/>
          <a:lstStyle/>
          <a:p>
            <a:endParaRPr lang="en-IN" sz="2400"/>
          </a:p>
        </p:txBody>
      </p:sp>
      <p:pic>
        <p:nvPicPr>
          <p:cNvPr id="8" name="Image 0" descr="preencoded.png"/>
          <p:cNvPicPr>
            <a:picLocks noChangeAspect="1"/>
          </p:cNvPicPr>
          <p:nvPr/>
        </p:nvPicPr>
        <p:blipFill>
          <a:blip r:embed="rId3"/>
          <a:stretch>
            <a:fillRect/>
          </a:stretch>
        </p:blipFill>
        <p:spPr>
          <a:xfrm>
            <a:off x="365760" y="1280160"/>
            <a:ext cx="292608" cy="292608"/>
          </a:xfrm>
          <a:prstGeom prst="rect">
            <a:avLst/>
          </a:prstGeom>
        </p:spPr>
      </p:pic>
      <p:sp>
        <p:nvSpPr>
          <p:cNvPr id="9" name="Text 6"/>
          <p:cNvSpPr/>
          <p:nvPr/>
        </p:nvSpPr>
        <p:spPr>
          <a:xfrm>
            <a:off x="749808" y="1225296"/>
            <a:ext cx="3547872" cy="237744"/>
          </a:xfrm>
          <a:prstGeom prst="rect">
            <a:avLst/>
          </a:prstGeom>
          <a:noFill/>
          <a:ln/>
        </p:spPr>
        <p:txBody>
          <a:bodyPr wrap="square" lIns="0" tIns="0" rIns="0" bIns="0" rtlCol="0" anchor="ctr"/>
          <a:lstStyle/>
          <a:p>
            <a:pPr marL="0" indent="0" algn="l">
              <a:buNone/>
            </a:pPr>
            <a:r>
              <a:rPr lang="en-US" sz="1600" b="1" dirty="0">
                <a:solidFill>
                  <a:srgbClr val="F8FAFC"/>
                </a:solidFill>
                <a:latin typeface="Georgia" pitchFamily="34" charset="0"/>
                <a:ea typeface="Georgia" pitchFamily="34" charset="-122"/>
                <a:cs typeface="Georgia" pitchFamily="34" charset="-120"/>
              </a:rPr>
              <a:t>Educational Institutions</a:t>
            </a:r>
            <a:endParaRPr lang="en-US" sz="1600" dirty="0"/>
          </a:p>
        </p:txBody>
      </p:sp>
      <p:sp>
        <p:nvSpPr>
          <p:cNvPr id="10" name="Text 7"/>
          <p:cNvSpPr/>
          <p:nvPr/>
        </p:nvSpPr>
        <p:spPr>
          <a:xfrm>
            <a:off x="749808" y="1463040"/>
            <a:ext cx="3547872" cy="182880"/>
          </a:xfrm>
          <a:prstGeom prst="rect">
            <a:avLst/>
          </a:prstGeom>
          <a:noFill/>
          <a:ln/>
        </p:spPr>
        <p:txBody>
          <a:bodyPr wrap="square" lIns="0" tIns="0" rIns="0" bIns="0" rtlCol="0" anchor="ctr"/>
          <a:lstStyle/>
          <a:p>
            <a:pPr marL="0" indent="0" algn="l">
              <a:buNone/>
            </a:pPr>
            <a:r>
              <a:rPr lang="en-US" sz="1000" dirty="0">
                <a:solidFill>
                  <a:srgbClr val="3B82F6"/>
                </a:solidFill>
                <a:latin typeface="Calibri" pitchFamily="34" charset="0"/>
                <a:ea typeface="Calibri" pitchFamily="34" charset="-122"/>
                <a:cs typeface="Calibri" pitchFamily="34" charset="-120"/>
              </a:rPr>
              <a:t>Universities · Colleges · Schools</a:t>
            </a:r>
            <a:endParaRPr lang="en-US" sz="1000" dirty="0"/>
          </a:p>
        </p:txBody>
      </p:sp>
      <p:sp>
        <p:nvSpPr>
          <p:cNvPr id="11" name="Shape 8"/>
          <p:cNvSpPr/>
          <p:nvPr/>
        </p:nvSpPr>
        <p:spPr>
          <a:xfrm>
            <a:off x="365760" y="1700784"/>
            <a:ext cx="3877056" cy="0"/>
          </a:xfrm>
          <a:prstGeom prst="line">
            <a:avLst/>
          </a:prstGeom>
          <a:noFill/>
          <a:ln w="6350">
            <a:solidFill>
              <a:srgbClr val="334155"/>
            </a:solidFill>
            <a:prstDash val="solid"/>
          </a:ln>
        </p:spPr>
        <p:txBody>
          <a:bodyPr/>
          <a:lstStyle/>
          <a:p>
            <a:endParaRPr lang="en-IN" sz="2400"/>
          </a:p>
        </p:txBody>
      </p:sp>
      <p:sp>
        <p:nvSpPr>
          <p:cNvPr id="12" name="Text 9"/>
          <p:cNvSpPr/>
          <p:nvPr/>
        </p:nvSpPr>
        <p:spPr>
          <a:xfrm>
            <a:off x="365760" y="1773936"/>
            <a:ext cx="3913632" cy="804672"/>
          </a:xfrm>
          <a:prstGeom prst="rect">
            <a:avLst/>
          </a:prstGeom>
          <a:noFill/>
          <a:ln/>
        </p:spPr>
        <p:txBody>
          <a:bodyPr wrap="square" lIns="0" tIns="0" rIns="0" bIns="0" rtlCol="0" anchor="t"/>
          <a:lstStyle/>
          <a:p>
            <a:pPr marL="0" indent="0" algn="l">
              <a:buNone/>
            </a:pPr>
            <a:r>
              <a:rPr lang="en-US" sz="1050" dirty="0">
                <a:solidFill>
                  <a:srgbClr val="CBD5E1"/>
                </a:solidFill>
                <a:latin typeface="Calibri" pitchFamily="34" charset="0"/>
                <a:ea typeface="Calibri" pitchFamily="34" charset="-122"/>
                <a:cs typeface="Calibri" pitchFamily="34" charset="-120"/>
              </a:rPr>
              <a:t>Most rely entirely on an internal IT department with no red-team training. Student data, fee portals, and academic systems are routinely left untested. External agencies are out of budget. PHANTOM gives them enterprise-grade security at a fraction of the cost.</a:t>
            </a:r>
            <a:endParaRPr lang="en-US" sz="1050" dirty="0"/>
          </a:p>
        </p:txBody>
      </p:sp>
      <p:sp>
        <p:nvSpPr>
          <p:cNvPr id="13" name="Shape 10"/>
          <p:cNvSpPr/>
          <p:nvPr/>
        </p:nvSpPr>
        <p:spPr>
          <a:xfrm>
            <a:off x="365760" y="2514600"/>
            <a:ext cx="3877056" cy="228600"/>
          </a:xfrm>
          <a:prstGeom prst="rect">
            <a:avLst/>
          </a:prstGeom>
          <a:solidFill>
            <a:srgbClr val="3B82F6">
              <a:alpha val="15000"/>
            </a:srgbClr>
          </a:solidFill>
          <a:ln w="6350">
            <a:solidFill>
              <a:srgbClr val="3B82F6"/>
            </a:solidFill>
            <a:prstDash val="solid"/>
          </a:ln>
        </p:spPr>
        <p:txBody>
          <a:bodyPr/>
          <a:lstStyle/>
          <a:p>
            <a:endParaRPr lang="en-IN" sz="2400"/>
          </a:p>
        </p:txBody>
      </p:sp>
      <p:sp>
        <p:nvSpPr>
          <p:cNvPr id="14" name="Text 11"/>
          <p:cNvSpPr/>
          <p:nvPr/>
        </p:nvSpPr>
        <p:spPr>
          <a:xfrm>
            <a:off x="365760" y="2514600"/>
            <a:ext cx="3877056" cy="22860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First pentest many will ever run</a:t>
            </a:r>
            <a:endParaRPr lang="en-US" sz="1000" dirty="0"/>
          </a:p>
        </p:txBody>
      </p:sp>
      <p:sp>
        <p:nvSpPr>
          <p:cNvPr id="15" name="Shape 12"/>
          <p:cNvSpPr/>
          <p:nvPr/>
        </p:nvSpPr>
        <p:spPr>
          <a:xfrm>
            <a:off x="4681728" y="1115568"/>
            <a:ext cx="4206240" cy="1719072"/>
          </a:xfrm>
          <a:prstGeom prst="rect">
            <a:avLst/>
          </a:prstGeom>
          <a:solidFill>
            <a:srgbClr val="201800"/>
          </a:solidFill>
          <a:ln w="6350">
            <a:solidFill>
              <a:srgbClr val="334155"/>
            </a:solidFill>
            <a:prstDash val="solid"/>
          </a:ln>
        </p:spPr>
        <p:txBody>
          <a:bodyPr/>
          <a:lstStyle/>
          <a:p>
            <a:endParaRPr lang="en-IN" sz="2400"/>
          </a:p>
        </p:txBody>
      </p:sp>
      <p:sp>
        <p:nvSpPr>
          <p:cNvPr id="16" name="Shape 13"/>
          <p:cNvSpPr/>
          <p:nvPr/>
        </p:nvSpPr>
        <p:spPr>
          <a:xfrm>
            <a:off x="4681728" y="1115568"/>
            <a:ext cx="4206240" cy="64008"/>
          </a:xfrm>
          <a:prstGeom prst="rect">
            <a:avLst/>
          </a:prstGeom>
          <a:solidFill>
            <a:srgbClr val="F59E0B"/>
          </a:solidFill>
          <a:ln w="12700">
            <a:solidFill>
              <a:srgbClr val="F59E0B"/>
            </a:solidFill>
            <a:prstDash val="solid"/>
          </a:ln>
        </p:spPr>
        <p:txBody>
          <a:bodyPr/>
          <a:lstStyle/>
          <a:p>
            <a:endParaRPr lang="en-IN" sz="2400"/>
          </a:p>
        </p:txBody>
      </p:sp>
      <p:pic>
        <p:nvPicPr>
          <p:cNvPr id="17" name="Image 1" descr="preencoded.png"/>
          <p:cNvPicPr>
            <a:picLocks noChangeAspect="1"/>
          </p:cNvPicPr>
          <p:nvPr/>
        </p:nvPicPr>
        <p:blipFill>
          <a:blip r:embed="rId4"/>
          <a:stretch>
            <a:fillRect/>
          </a:stretch>
        </p:blipFill>
        <p:spPr>
          <a:xfrm>
            <a:off x="4846320" y="1280160"/>
            <a:ext cx="292608" cy="292608"/>
          </a:xfrm>
          <a:prstGeom prst="rect">
            <a:avLst/>
          </a:prstGeom>
        </p:spPr>
      </p:pic>
      <p:sp>
        <p:nvSpPr>
          <p:cNvPr id="18" name="Text 14"/>
          <p:cNvSpPr/>
          <p:nvPr/>
        </p:nvSpPr>
        <p:spPr>
          <a:xfrm>
            <a:off x="5230368" y="1225296"/>
            <a:ext cx="3547872" cy="237744"/>
          </a:xfrm>
          <a:prstGeom prst="rect">
            <a:avLst/>
          </a:prstGeom>
          <a:noFill/>
          <a:ln/>
        </p:spPr>
        <p:txBody>
          <a:bodyPr wrap="square" lIns="0" tIns="0" rIns="0" bIns="0" rtlCol="0" anchor="ctr"/>
          <a:lstStyle/>
          <a:p>
            <a:pPr marL="0" indent="0" algn="l">
              <a:buNone/>
            </a:pPr>
            <a:r>
              <a:rPr lang="en-US" sz="1600" b="1" dirty="0">
                <a:solidFill>
                  <a:srgbClr val="F8FAFC"/>
                </a:solidFill>
                <a:latin typeface="Georgia" pitchFamily="34" charset="0"/>
                <a:ea typeface="Georgia" pitchFamily="34" charset="-122"/>
                <a:cs typeface="Georgia" pitchFamily="34" charset="-120"/>
              </a:rPr>
              <a:t>SMEs &amp; Startups</a:t>
            </a:r>
            <a:endParaRPr lang="en-US" sz="1600" dirty="0"/>
          </a:p>
        </p:txBody>
      </p:sp>
      <p:sp>
        <p:nvSpPr>
          <p:cNvPr id="19" name="Text 15"/>
          <p:cNvSpPr/>
          <p:nvPr/>
        </p:nvSpPr>
        <p:spPr>
          <a:xfrm>
            <a:off x="5230368" y="1463040"/>
            <a:ext cx="3547872" cy="182880"/>
          </a:xfrm>
          <a:prstGeom prst="rect">
            <a:avLst/>
          </a:prstGeom>
          <a:noFill/>
          <a:ln/>
        </p:spPr>
        <p:txBody>
          <a:bodyPr wrap="square" lIns="0" tIns="0" rIns="0" bIns="0" rtlCol="0" anchor="ctr"/>
          <a:lstStyle/>
          <a:p>
            <a:pPr marL="0" indent="0" algn="l">
              <a:buNone/>
            </a:pPr>
            <a:r>
              <a:rPr lang="en-US" sz="1000" dirty="0">
                <a:solidFill>
                  <a:srgbClr val="F59E0B"/>
                </a:solidFill>
                <a:latin typeface="Calibri" pitchFamily="34" charset="0"/>
                <a:ea typeface="Calibri" pitchFamily="34" charset="-122"/>
                <a:cs typeface="Calibri" pitchFamily="34" charset="-120"/>
              </a:rPr>
              <a:t>&lt; 500 employees · Pre-Series B</a:t>
            </a:r>
            <a:endParaRPr lang="en-US" sz="1000" dirty="0"/>
          </a:p>
        </p:txBody>
      </p:sp>
      <p:sp>
        <p:nvSpPr>
          <p:cNvPr id="20" name="Shape 16"/>
          <p:cNvSpPr/>
          <p:nvPr/>
        </p:nvSpPr>
        <p:spPr>
          <a:xfrm>
            <a:off x="4846320" y="1700784"/>
            <a:ext cx="3877056" cy="0"/>
          </a:xfrm>
          <a:prstGeom prst="line">
            <a:avLst/>
          </a:prstGeom>
          <a:noFill/>
          <a:ln w="6350">
            <a:solidFill>
              <a:srgbClr val="334155"/>
            </a:solidFill>
            <a:prstDash val="solid"/>
          </a:ln>
        </p:spPr>
        <p:txBody>
          <a:bodyPr/>
          <a:lstStyle/>
          <a:p>
            <a:endParaRPr lang="en-IN" sz="2400"/>
          </a:p>
        </p:txBody>
      </p:sp>
      <p:sp>
        <p:nvSpPr>
          <p:cNvPr id="21" name="Text 17"/>
          <p:cNvSpPr/>
          <p:nvPr/>
        </p:nvSpPr>
        <p:spPr>
          <a:xfrm>
            <a:off x="4846320" y="1773936"/>
            <a:ext cx="3913632" cy="804672"/>
          </a:xfrm>
          <a:prstGeom prst="rect">
            <a:avLst/>
          </a:prstGeom>
          <a:noFill/>
          <a:ln/>
        </p:spPr>
        <p:txBody>
          <a:bodyPr wrap="square" lIns="0" tIns="0" rIns="0" bIns="0" rtlCol="0" anchor="t"/>
          <a:lstStyle/>
          <a:p>
            <a:pPr marL="0" indent="0" algn="l">
              <a:buNone/>
            </a:pPr>
            <a:r>
              <a:rPr lang="en-US" sz="1050" dirty="0">
                <a:solidFill>
                  <a:srgbClr val="CBD5E1"/>
                </a:solidFill>
                <a:latin typeface="Calibri" pitchFamily="34" charset="0"/>
                <a:ea typeface="Calibri" pitchFamily="34" charset="-122"/>
                <a:cs typeface="Calibri" pitchFamily="34" charset="-120"/>
              </a:rPr>
              <a:t>Growing fast, adding infrastructure daily, but security is an afterthought. Can't justify ₹2–5L for an annual pentest. Investors increasingly require security posture evidence. PHANTOM runs on API costs — scalable as the company grows.</a:t>
            </a:r>
            <a:endParaRPr lang="en-US" sz="1050" dirty="0"/>
          </a:p>
        </p:txBody>
      </p:sp>
      <p:sp>
        <p:nvSpPr>
          <p:cNvPr id="22" name="Shape 18"/>
          <p:cNvSpPr/>
          <p:nvPr/>
        </p:nvSpPr>
        <p:spPr>
          <a:xfrm>
            <a:off x="4846320" y="2514600"/>
            <a:ext cx="3877056" cy="228600"/>
          </a:xfrm>
          <a:prstGeom prst="rect">
            <a:avLst/>
          </a:prstGeom>
          <a:solidFill>
            <a:srgbClr val="F59E0B">
              <a:alpha val="15000"/>
            </a:srgbClr>
          </a:solidFill>
          <a:ln w="6350">
            <a:solidFill>
              <a:srgbClr val="F59E0B"/>
            </a:solidFill>
            <a:prstDash val="solid"/>
          </a:ln>
        </p:spPr>
        <p:txBody>
          <a:bodyPr/>
          <a:lstStyle/>
          <a:p>
            <a:endParaRPr lang="en-IN" sz="2400"/>
          </a:p>
        </p:txBody>
      </p:sp>
      <p:sp>
        <p:nvSpPr>
          <p:cNvPr id="23" name="Text 19"/>
          <p:cNvSpPr/>
          <p:nvPr/>
        </p:nvSpPr>
        <p:spPr>
          <a:xfrm>
            <a:off x="4846320" y="2514600"/>
            <a:ext cx="3877056" cy="22860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Security that grows with the business</a:t>
            </a:r>
            <a:endParaRPr lang="en-US" sz="1000" dirty="0"/>
          </a:p>
        </p:txBody>
      </p:sp>
      <p:sp>
        <p:nvSpPr>
          <p:cNvPr id="24" name="Shape 20"/>
          <p:cNvSpPr/>
          <p:nvPr/>
        </p:nvSpPr>
        <p:spPr>
          <a:xfrm>
            <a:off x="201168" y="2990088"/>
            <a:ext cx="4206240" cy="1719072"/>
          </a:xfrm>
          <a:prstGeom prst="rect">
            <a:avLst/>
          </a:prstGeom>
          <a:solidFill>
            <a:srgbClr val="001A0F"/>
          </a:solidFill>
          <a:ln w="6350">
            <a:solidFill>
              <a:srgbClr val="334155"/>
            </a:solidFill>
            <a:prstDash val="solid"/>
          </a:ln>
        </p:spPr>
        <p:txBody>
          <a:bodyPr/>
          <a:lstStyle/>
          <a:p>
            <a:endParaRPr lang="en-IN" sz="2400"/>
          </a:p>
        </p:txBody>
      </p:sp>
      <p:sp>
        <p:nvSpPr>
          <p:cNvPr id="25" name="Shape 21"/>
          <p:cNvSpPr/>
          <p:nvPr/>
        </p:nvSpPr>
        <p:spPr>
          <a:xfrm>
            <a:off x="201168" y="2990088"/>
            <a:ext cx="4206240" cy="64008"/>
          </a:xfrm>
          <a:prstGeom prst="rect">
            <a:avLst/>
          </a:prstGeom>
          <a:solidFill>
            <a:srgbClr val="10B981"/>
          </a:solidFill>
          <a:ln w="12700">
            <a:solidFill>
              <a:srgbClr val="10B981"/>
            </a:solidFill>
            <a:prstDash val="solid"/>
          </a:ln>
        </p:spPr>
        <p:txBody>
          <a:bodyPr/>
          <a:lstStyle/>
          <a:p>
            <a:endParaRPr lang="en-IN" sz="2400"/>
          </a:p>
        </p:txBody>
      </p:sp>
      <p:pic>
        <p:nvPicPr>
          <p:cNvPr id="26" name="Image 2" descr="preencoded.png"/>
          <p:cNvPicPr>
            <a:picLocks noChangeAspect="1"/>
          </p:cNvPicPr>
          <p:nvPr/>
        </p:nvPicPr>
        <p:blipFill>
          <a:blip r:embed="rId5"/>
          <a:stretch>
            <a:fillRect/>
          </a:stretch>
        </p:blipFill>
        <p:spPr>
          <a:xfrm>
            <a:off x="365760" y="3154680"/>
            <a:ext cx="292608" cy="292608"/>
          </a:xfrm>
          <a:prstGeom prst="rect">
            <a:avLst/>
          </a:prstGeom>
        </p:spPr>
      </p:pic>
      <p:sp>
        <p:nvSpPr>
          <p:cNvPr id="27" name="Text 22"/>
          <p:cNvSpPr/>
          <p:nvPr/>
        </p:nvSpPr>
        <p:spPr>
          <a:xfrm>
            <a:off x="749808" y="3099816"/>
            <a:ext cx="3547872" cy="237744"/>
          </a:xfrm>
          <a:prstGeom prst="rect">
            <a:avLst/>
          </a:prstGeom>
          <a:noFill/>
          <a:ln/>
        </p:spPr>
        <p:txBody>
          <a:bodyPr wrap="square" lIns="0" tIns="0" rIns="0" bIns="0" rtlCol="0" anchor="ctr"/>
          <a:lstStyle/>
          <a:p>
            <a:pPr marL="0" indent="0" algn="l">
              <a:buNone/>
            </a:pPr>
            <a:r>
              <a:rPr lang="en-US" sz="1600" b="1" dirty="0">
                <a:solidFill>
                  <a:srgbClr val="F8FAFC"/>
                </a:solidFill>
                <a:latin typeface="Georgia" pitchFamily="34" charset="0"/>
                <a:ea typeface="Georgia" pitchFamily="34" charset="-122"/>
                <a:cs typeface="Georgia" pitchFamily="34" charset="-120"/>
              </a:rPr>
              <a:t>Compliance-Driven Orgs</a:t>
            </a:r>
            <a:endParaRPr lang="en-US" sz="1600" dirty="0"/>
          </a:p>
        </p:txBody>
      </p:sp>
      <p:sp>
        <p:nvSpPr>
          <p:cNvPr id="28" name="Text 23"/>
          <p:cNvSpPr/>
          <p:nvPr/>
        </p:nvSpPr>
        <p:spPr>
          <a:xfrm>
            <a:off x="749808" y="3337560"/>
            <a:ext cx="3547872" cy="182880"/>
          </a:xfrm>
          <a:prstGeom prst="rect">
            <a:avLst/>
          </a:prstGeom>
          <a:noFill/>
          <a:ln/>
        </p:spPr>
        <p:txBody>
          <a:bodyPr wrap="square" lIns="0" tIns="0" rIns="0" bIns="0" rtlCol="0" anchor="ctr"/>
          <a:lstStyle/>
          <a:p>
            <a:pPr marL="0" indent="0" algn="l">
              <a:buNone/>
            </a:pPr>
            <a:r>
              <a:rPr lang="en-US" sz="1000" dirty="0">
                <a:solidFill>
                  <a:srgbClr val="10B981"/>
                </a:solidFill>
                <a:latin typeface="Calibri" pitchFamily="34" charset="0"/>
                <a:ea typeface="Calibri" pitchFamily="34" charset="-122"/>
                <a:cs typeface="Calibri" pitchFamily="34" charset="-120"/>
              </a:rPr>
              <a:t>ISO 27001 · SOC 2 · PCI-DSS</a:t>
            </a:r>
            <a:endParaRPr lang="en-US" sz="1000" dirty="0"/>
          </a:p>
        </p:txBody>
      </p:sp>
      <p:sp>
        <p:nvSpPr>
          <p:cNvPr id="29" name="Shape 24"/>
          <p:cNvSpPr/>
          <p:nvPr/>
        </p:nvSpPr>
        <p:spPr>
          <a:xfrm>
            <a:off x="365760" y="3575304"/>
            <a:ext cx="3877056" cy="0"/>
          </a:xfrm>
          <a:prstGeom prst="line">
            <a:avLst/>
          </a:prstGeom>
          <a:noFill/>
          <a:ln w="6350">
            <a:solidFill>
              <a:srgbClr val="334155"/>
            </a:solidFill>
            <a:prstDash val="solid"/>
          </a:ln>
        </p:spPr>
        <p:txBody>
          <a:bodyPr/>
          <a:lstStyle/>
          <a:p>
            <a:endParaRPr lang="en-IN" sz="2400"/>
          </a:p>
        </p:txBody>
      </p:sp>
      <p:sp>
        <p:nvSpPr>
          <p:cNvPr id="30" name="Text 25"/>
          <p:cNvSpPr/>
          <p:nvPr/>
        </p:nvSpPr>
        <p:spPr>
          <a:xfrm>
            <a:off x="365760" y="3648456"/>
            <a:ext cx="3913632" cy="804672"/>
          </a:xfrm>
          <a:prstGeom prst="rect">
            <a:avLst/>
          </a:prstGeom>
          <a:noFill/>
          <a:ln/>
        </p:spPr>
        <p:txBody>
          <a:bodyPr wrap="square" lIns="0" tIns="0" rIns="0" bIns="0" rtlCol="0" anchor="t"/>
          <a:lstStyle/>
          <a:p>
            <a:pPr marL="0" indent="0" algn="l">
              <a:buNone/>
            </a:pPr>
            <a:r>
              <a:rPr lang="en-US" sz="1050" dirty="0">
                <a:solidFill>
                  <a:srgbClr val="CBD5E1"/>
                </a:solidFill>
                <a:latin typeface="Calibri" pitchFamily="34" charset="0"/>
                <a:ea typeface="Calibri" pitchFamily="34" charset="-122"/>
                <a:cs typeface="Calibri" pitchFamily="34" charset="-120"/>
              </a:rPr>
              <a:t>Certification bodies require documented, regular threat modelling and vulnerability assessments. One annual audit doesn't satisfy continuous compliance. PHANTOM generates auditable reports with full reasoning chains — exactly what ISO assessors want.</a:t>
            </a:r>
            <a:endParaRPr lang="en-US" sz="1050" dirty="0"/>
          </a:p>
        </p:txBody>
      </p:sp>
      <p:sp>
        <p:nvSpPr>
          <p:cNvPr id="31" name="Shape 26"/>
          <p:cNvSpPr/>
          <p:nvPr/>
        </p:nvSpPr>
        <p:spPr>
          <a:xfrm>
            <a:off x="365760" y="4389120"/>
            <a:ext cx="3877056" cy="228600"/>
          </a:xfrm>
          <a:prstGeom prst="rect">
            <a:avLst/>
          </a:prstGeom>
          <a:solidFill>
            <a:srgbClr val="10B981">
              <a:alpha val="15000"/>
            </a:srgbClr>
          </a:solidFill>
          <a:ln w="6350">
            <a:solidFill>
              <a:srgbClr val="10B981"/>
            </a:solidFill>
            <a:prstDash val="solid"/>
          </a:ln>
        </p:spPr>
        <p:txBody>
          <a:bodyPr/>
          <a:lstStyle/>
          <a:p>
            <a:endParaRPr lang="en-IN" sz="2400"/>
          </a:p>
        </p:txBody>
      </p:sp>
      <p:sp>
        <p:nvSpPr>
          <p:cNvPr id="32" name="Text 27"/>
          <p:cNvSpPr/>
          <p:nvPr/>
        </p:nvSpPr>
        <p:spPr>
          <a:xfrm>
            <a:off x="365760" y="4389120"/>
            <a:ext cx="3877056" cy="22860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Evidence trail for every assessment</a:t>
            </a:r>
            <a:endParaRPr lang="en-US" sz="1000" dirty="0"/>
          </a:p>
        </p:txBody>
      </p:sp>
      <p:sp>
        <p:nvSpPr>
          <p:cNvPr id="33" name="Shape 28"/>
          <p:cNvSpPr/>
          <p:nvPr/>
        </p:nvSpPr>
        <p:spPr>
          <a:xfrm>
            <a:off x="4681728" y="2990088"/>
            <a:ext cx="4206240" cy="1719072"/>
          </a:xfrm>
          <a:prstGeom prst="rect">
            <a:avLst/>
          </a:prstGeom>
          <a:solidFill>
            <a:srgbClr val="150D2A"/>
          </a:solidFill>
          <a:ln w="6350">
            <a:solidFill>
              <a:srgbClr val="334155"/>
            </a:solidFill>
            <a:prstDash val="solid"/>
          </a:ln>
        </p:spPr>
        <p:txBody>
          <a:bodyPr/>
          <a:lstStyle/>
          <a:p>
            <a:endParaRPr lang="en-IN" sz="2400"/>
          </a:p>
        </p:txBody>
      </p:sp>
      <p:sp>
        <p:nvSpPr>
          <p:cNvPr id="34" name="Shape 29"/>
          <p:cNvSpPr/>
          <p:nvPr/>
        </p:nvSpPr>
        <p:spPr>
          <a:xfrm>
            <a:off x="4681728" y="2990088"/>
            <a:ext cx="4206240" cy="64008"/>
          </a:xfrm>
          <a:prstGeom prst="rect">
            <a:avLst/>
          </a:prstGeom>
          <a:solidFill>
            <a:srgbClr val="8B5CF6"/>
          </a:solidFill>
          <a:ln w="12700">
            <a:solidFill>
              <a:srgbClr val="8B5CF6"/>
            </a:solidFill>
            <a:prstDash val="solid"/>
          </a:ln>
        </p:spPr>
        <p:txBody>
          <a:bodyPr/>
          <a:lstStyle/>
          <a:p>
            <a:endParaRPr lang="en-IN" sz="2400"/>
          </a:p>
        </p:txBody>
      </p:sp>
      <p:pic>
        <p:nvPicPr>
          <p:cNvPr id="35" name="Image 3" descr="preencoded.png"/>
          <p:cNvPicPr>
            <a:picLocks noChangeAspect="1"/>
          </p:cNvPicPr>
          <p:nvPr/>
        </p:nvPicPr>
        <p:blipFill>
          <a:blip r:embed="rId6"/>
          <a:stretch>
            <a:fillRect/>
          </a:stretch>
        </p:blipFill>
        <p:spPr>
          <a:xfrm>
            <a:off x="4846320" y="3154680"/>
            <a:ext cx="292608" cy="292608"/>
          </a:xfrm>
          <a:prstGeom prst="rect">
            <a:avLst/>
          </a:prstGeom>
        </p:spPr>
      </p:pic>
      <p:sp>
        <p:nvSpPr>
          <p:cNvPr id="36" name="Text 30"/>
          <p:cNvSpPr/>
          <p:nvPr/>
        </p:nvSpPr>
        <p:spPr>
          <a:xfrm>
            <a:off x="5230368" y="3099816"/>
            <a:ext cx="3547872" cy="237744"/>
          </a:xfrm>
          <a:prstGeom prst="rect">
            <a:avLst/>
          </a:prstGeom>
          <a:noFill/>
          <a:ln/>
        </p:spPr>
        <p:txBody>
          <a:bodyPr wrap="square" lIns="0" tIns="0" rIns="0" bIns="0" rtlCol="0" anchor="ctr"/>
          <a:lstStyle/>
          <a:p>
            <a:pPr marL="0" indent="0" algn="l">
              <a:buNone/>
            </a:pPr>
            <a:r>
              <a:rPr lang="en-US" sz="1600" b="1" dirty="0">
                <a:solidFill>
                  <a:srgbClr val="F8FAFC"/>
                </a:solidFill>
                <a:latin typeface="Georgia" pitchFamily="34" charset="0"/>
                <a:ea typeface="Georgia" pitchFamily="34" charset="-122"/>
                <a:cs typeface="Georgia" pitchFamily="34" charset="-120"/>
              </a:rPr>
              <a:t>Internal IT / DevSecOps Teams</a:t>
            </a:r>
            <a:endParaRPr lang="en-US" sz="1600" dirty="0"/>
          </a:p>
        </p:txBody>
      </p:sp>
      <p:sp>
        <p:nvSpPr>
          <p:cNvPr id="37" name="Text 31"/>
          <p:cNvSpPr/>
          <p:nvPr/>
        </p:nvSpPr>
        <p:spPr>
          <a:xfrm>
            <a:off x="5230368" y="3337560"/>
            <a:ext cx="3547872" cy="182880"/>
          </a:xfrm>
          <a:prstGeom prst="rect">
            <a:avLst/>
          </a:prstGeom>
          <a:noFill/>
          <a:ln/>
        </p:spPr>
        <p:txBody>
          <a:bodyPr wrap="square" lIns="0" tIns="0" rIns="0" bIns="0" rtlCol="0" anchor="ctr"/>
          <a:lstStyle/>
          <a:p>
            <a:pPr marL="0" indent="0" algn="l">
              <a:buNone/>
            </a:pPr>
            <a:r>
              <a:rPr lang="en-US" sz="1000" dirty="0">
                <a:solidFill>
                  <a:srgbClr val="8B5CF6"/>
                </a:solidFill>
                <a:latin typeface="Calibri" pitchFamily="34" charset="0"/>
                <a:ea typeface="Calibri" pitchFamily="34" charset="-122"/>
                <a:cs typeface="Calibri" pitchFamily="34" charset="-120"/>
              </a:rPr>
              <a:t>In-house security · CI/CD pipelines</a:t>
            </a:r>
            <a:endParaRPr lang="en-US" sz="1000" dirty="0"/>
          </a:p>
        </p:txBody>
      </p:sp>
      <p:sp>
        <p:nvSpPr>
          <p:cNvPr id="38" name="Shape 32"/>
          <p:cNvSpPr/>
          <p:nvPr/>
        </p:nvSpPr>
        <p:spPr>
          <a:xfrm>
            <a:off x="4846320" y="3575304"/>
            <a:ext cx="3877056" cy="0"/>
          </a:xfrm>
          <a:prstGeom prst="line">
            <a:avLst/>
          </a:prstGeom>
          <a:noFill/>
          <a:ln w="6350">
            <a:solidFill>
              <a:srgbClr val="334155"/>
            </a:solidFill>
            <a:prstDash val="solid"/>
          </a:ln>
        </p:spPr>
        <p:txBody>
          <a:bodyPr/>
          <a:lstStyle/>
          <a:p>
            <a:endParaRPr lang="en-IN" sz="2400"/>
          </a:p>
        </p:txBody>
      </p:sp>
      <p:sp>
        <p:nvSpPr>
          <p:cNvPr id="39" name="Text 33"/>
          <p:cNvSpPr/>
          <p:nvPr/>
        </p:nvSpPr>
        <p:spPr>
          <a:xfrm>
            <a:off x="4846320" y="3648456"/>
            <a:ext cx="3913632" cy="804672"/>
          </a:xfrm>
          <a:prstGeom prst="rect">
            <a:avLst/>
          </a:prstGeom>
          <a:noFill/>
          <a:ln/>
        </p:spPr>
        <p:txBody>
          <a:bodyPr wrap="square" lIns="0" tIns="0" rIns="0" bIns="0" rtlCol="0" anchor="t"/>
          <a:lstStyle/>
          <a:p>
            <a:pPr marL="0" indent="0" algn="l">
              <a:buNone/>
            </a:pPr>
            <a:r>
              <a:rPr lang="en-US" sz="1050" dirty="0">
                <a:solidFill>
                  <a:srgbClr val="CBD5E1"/>
                </a:solidFill>
                <a:latin typeface="Calibri" pitchFamily="34" charset="0"/>
                <a:ea typeface="Calibri" pitchFamily="34" charset="-122"/>
                <a:cs typeface="Calibri" pitchFamily="34" charset="-120"/>
              </a:rPr>
              <a:t>Teams that want to shift security left — catching vulnerabilities before production. PHANTOM integrates into deployment pipelines to run automated assessments on every major release. Findings appear in the developer's workflow, not a PDF three weeks later.</a:t>
            </a:r>
            <a:endParaRPr lang="en-US" sz="1050" dirty="0"/>
          </a:p>
        </p:txBody>
      </p:sp>
      <p:sp>
        <p:nvSpPr>
          <p:cNvPr id="40" name="Shape 34"/>
          <p:cNvSpPr/>
          <p:nvPr/>
        </p:nvSpPr>
        <p:spPr>
          <a:xfrm>
            <a:off x="4846320" y="4389120"/>
            <a:ext cx="3877056" cy="228600"/>
          </a:xfrm>
          <a:prstGeom prst="rect">
            <a:avLst/>
          </a:prstGeom>
          <a:solidFill>
            <a:srgbClr val="8B5CF6">
              <a:alpha val="15000"/>
            </a:srgbClr>
          </a:solidFill>
          <a:ln w="6350">
            <a:solidFill>
              <a:srgbClr val="8B5CF6"/>
            </a:solidFill>
            <a:prstDash val="solid"/>
          </a:ln>
        </p:spPr>
        <p:txBody>
          <a:bodyPr/>
          <a:lstStyle/>
          <a:p>
            <a:endParaRPr lang="en-IN" sz="2400"/>
          </a:p>
        </p:txBody>
      </p:sp>
      <p:sp>
        <p:nvSpPr>
          <p:cNvPr id="41" name="Text 35"/>
          <p:cNvSpPr/>
          <p:nvPr/>
        </p:nvSpPr>
        <p:spPr>
          <a:xfrm>
            <a:off x="4846320" y="4389120"/>
            <a:ext cx="3877056" cy="22860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Security at the speed of shipping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txBody>
          <a:bodyPr/>
          <a:lstStyle/>
          <a:p>
            <a:endParaRPr lang="en-IN"/>
          </a:p>
        </p:txBody>
      </p:sp>
      <p:sp>
        <p:nvSpPr>
          <p:cNvPr id="3" name="Text 1"/>
          <p:cNvSpPr/>
          <p:nvPr/>
        </p:nvSpPr>
        <p:spPr>
          <a:xfrm>
            <a:off x="365760" y="182880"/>
            <a:ext cx="6400800" cy="438912"/>
          </a:xfrm>
          <a:prstGeom prst="rect">
            <a:avLst/>
          </a:prstGeom>
          <a:noFill/>
          <a:ln/>
        </p:spPr>
        <p:txBody>
          <a:bodyPr wrap="square" lIns="0" tIns="0" rIns="0" bIns="0" rtlCol="0" anchor="ctr"/>
          <a:lstStyle/>
          <a:p>
            <a:pPr marL="0" indent="0" algn="l">
              <a:buNone/>
            </a:pPr>
            <a:r>
              <a:rPr lang="en-US" sz="2600" b="1" dirty="0">
                <a:solidFill>
                  <a:srgbClr val="F8FAFC"/>
                </a:solidFill>
                <a:latin typeface="Georgia" pitchFamily="34" charset="0"/>
                <a:ea typeface="Georgia" pitchFamily="34" charset="-122"/>
                <a:cs typeface="Georgia" pitchFamily="34" charset="-120"/>
              </a:rPr>
              <a:t>System Architecture</a:t>
            </a:r>
            <a:endParaRPr lang="en-US" sz="2600" dirty="0"/>
          </a:p>
        </p:txBody>
      </p:sp>
      <p:sp>
        <p:nvSpPr>
          <p:cNvPr id="4" name="Shape 2"/>
          <p:cNvSpPr/>
          <p:nvPr/>
        </p:nvSpPr>
        <p:spPr>
          <a:xfrm>
            <a:off x="365760" y="658368"/>
            <a:ext cx="1828800" cy="0"/>
          </a:xfrm>
          <a:prstGeom prst="line">
            <a:avLst/>
          </a:prstGeom>
          <a:noFill/>
          <a:ln w="19050">
            <a:solidFill>
              <a:srgbClr val="3B82F6"/>
            </a:solidFill>
            <a:prstDash val="solid"/>
          </a:ln>
        </p:spPr>
        <p:txBody>
          <a:bodyPr/>
          <a:lstStyle/>
          <a:p>
            <a:endParaRPr lang="en-IN"/>
          </a:p>
        </p:txBody>
      </p:sp>
      <p:sp>
        <p:nvSpPr>
          <p:cNvPr id="5" name="Text 3"/>
          <p:cNvSpPr/>
          <p:nvPr/>
        </p:nvSpPr>
        <p:spPr>
          <a:xfrm>
            <a:off x="365760" y="731520"/>
            <a:ext cx="8229600" cy="237744"/>
          </a:xfrm>
          <a:prstGeom prst="rect">
            <a:avLst/>
          </a:prstGeom>
          <a:noFill/>
          <a:ln/>
        </p:spPr>
        <p:txBody>
          <a:bodyPr wrap="square" lIns="0" tIns="0" rIns="0" bIns="0" rtlCol="0" anchor="ctr"/>
          <a:lstStyle/>
          <a:p>
            <a:pPr marL="0" indent="0" algn="l">
              <a:buNone/>
            </a:pPr>
            <a:r>
              <a:rPr lang="en-US" sz="1100" i="1" dirty="0">
                <a:solidFill>
                  <a:srgbClr val="94A3B8"/>
                </a:solidFill>
                <a:latin typeface="Calibri" pitchFamily="34" charset="0"/>
                <a:ea typeface="Calibri" pitchFamily="34" charset="-122"/>
                <a:cs typeface="Calibri" pitchFamily="34" charset="-120"/>
              </a:rPr>
              <a:t>Five specialised agents, orchestrated by a ReAct loop, backed by vector memory</a:t>
            </a:r>
            <a:endParaRPr lang="en-US" sz="1100" dirty="0"/>
          </a:p>
        </p:txBody>
      </p:sp>
      <p:sp>
        <p:nvSpPr>
          <p:cNvPr id="6" name="Shape 4"/>
          <p:cNvSpPr/>
          <p:nvPr/>
        </p:nvSpPr>
        <p:spPr>
          <a:xfrm>
            <a:off x="2880360" y="1042416"/>
            <a:ext cx="3383280" cy="347472"/>
          </a:xfrm>
          <a:prstGeom prst="rect">
            <a:avLst/>
          </a:prstGeom>
          <a:solidFill>
            <a:srgbClr val="1C2B40"/>
          </a:solidFill>
          <a:ln w="9525">
            <a:solidFill>
              <a:srgbClr val="334155"/>
            </a:solidFill>
            <a:prstDash val="solid"/>
          </a:ln>
        </p:spPr>
        <p:txBody>
          <a:bodyPr/>
          <a:lstStyle/>
          <a:p>
            <a:endParaRPr lang="en-IN"/>
          </a:p>
        </p:txBody>
      </p:sp>
      <p:sp>
        <p:nvSpPr>
          <p:cNvPr id="7" name="Text 5"/>
          <p:cNvSpPr/>
          <p:nvPr/>
        </p:nvSpPr>
        <p:spPr>
          <a:xfrm>
            <a:off x="2880360" y="1042416"/>
            <a:ext cx="338328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Target Scope  ·  codebase  ·  network  ·  endpoints</a:t>
            </a:r>
            <a:endParaRPr lang="en-US" sz="950" dirty="0"/>
          </a:p>
        </p:txBody>
      </p:sp>
      <p:sp>
        <p:nvSpPr>
          <p:cNvPr id="8" name="Shape 6"/>
          <p:cNvSpPr/>
          <p:nvPr/>
        </p:nvSpPr>
        <p:spPr>
          <a:xfrm>
            <a:off x="4572000" y="1389888"/>
            <a:ext cx="0" cy="201168"/>
          </a:xfrm>
          <a:prstGeom prst="line">
            <a:avLst/>
          </a:prstGeom>
          <a:noFill/>
          <a:ln w="15240">
            <a:solidFill>
              <a:srgbClr val="3B82F6"/>
            </a:solidFill>
            <a:prstDash val="solid"/>
            <a:tailEnd type="arrow"/>
          </a:ln>
        </p:spPr>
        <p:txBody>
          <a:bodyPr/>
          <a:lstStyle/>
          <a:p>
            <a:endParaRPr lang="en-IN"/>
          </a:p>
        </p:txBody>
      </p:sp>
      <p:sp>
        <p:nvSpPr>
          <p:cNvPr id="9" name="Shape 7"/>
          <p:cNvSpPr/>
          <p:nvPr/>
        </p:nvSpPr>
        <p:spPr>
          <a:xfrm>
            <a:off x="274320" y="1591056"/>
            <a:ext cx="8595360" cy="457200"/>
          </a:xfrm>
          <a:prstGeom prst="rect">
            <a:avLst/>
          </a:prstGeom>
          <a:solidFill>
            <a:srgbClr val="2563EB"/>
          </a:solidFill>
          <a:ln w="12700">
            <a:solidFill>
              <a:srgbClr val="3B82F6"/>
            </a:solidFill>
            <a:prstDash val="solid"/>
          </a:ln>
        </p:spPr>
        <p:txBody>
          <a:bodyPr/>
          <a:lstStyle/>
          <a:p>
            <a:endParaRPr lang="en-IN"/>
          </a:p>
        </p:txBody>
      </p:sp>
      <p:sp>
        <p:nvSpPr>
          <p:cNvPr id="10" name="Text 8"/>
          <p:cNvSpPr/>
          <p:nvPr/>
        </p:nvSpPr>
        <p:spPr>
          <a:xfrm>
            <a:off x="274320" y="1591056"/>
            <a:ext cx="8595360" cy="457200"/>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Orchestrator  —  ReAct Loop  ·  Plan  ·  Act  ·  Observe  ·  Reflect  ·  Replan</a:t>
            </a:r>
            <a:endParaRPr lang="en-US" sz="1200" dirty="0"/>
          </a:p>
        </p:txBody>
      </p:sp>
      <p:sp>
        <p:nvSpPr>
          <p:cNvPr id="11" name="Shape 9"/>
          <p:cNvSpPr/>
          <p:nvPr/>
        </p:nvSpPr>
        <p:spPr>
          <a:xfrm>
            <a:off x="274320" y="2116759"/>
            <a:ext cx="8595360" cy="1627632"/>
          </a:xfrm>
          <a:prstGeom prst="rect">
            <a:avLst/>
          </a:prstGeom>
          <a:solidFill>
            <a:srgbClr val="131E30"/>
          </a:solidFill>
          <a:ln w="9525">
            <a:solidFill>
              <a:srgbClr val="334155"/>
            </a:solidFill>
            <a:prstDash val="dash"/>
          </a:ln>
        </p:spPr>
        <p:txBody>
          <a:bodyPr/>
          <a:lstStyle/>
          <a:p>
            <a:endParaRPr lang="en-IN"/>
          </a:p>
        </p:txBody>
      </p:sp>
      <p:sp>
        <p:nvSpPr>
          <p:cNvPr id="12" name="Shape 10"/>
          <p:cNvSpPr/>
          <p:nvPr/>
        </p:nvSpPr>
        <p:spPr>
          <a:xfrm>
            <a:off x="1120140" y="2048256"/>
            <a:ext cx="0" cy="182880"/>
          </a:xfrm>
          <a:prstGeom prst="line">
            <a:avLst/>
          </a:prstGeom>
          <a:noFill/>
          <a:ln w="12700">
            <a:solidFill>
              <a:srgbClr val="DC2626"/>
            </a:solidFill>
            <a:prstDash val="solid"/>
            <a:tailEnd type="arrow"/>
          </a:ln>
        </p:spPr>
        <p:txBody>
          <a:bodyPr/>
          <a:lstStyle/>
          <a:p>
            <a:endParaRPr lang="en-IN"/>
          </a:p>
        </p:txBody>
      </p:sp>
      <p:sp>
        <p:nvSpPr>
          <p:cNvPr id="13" name="Shape 11"/>
          <p:cNvSpPr/>
          <p:nvPr/>
        </p:nvSpPr>
        <p:spPr>
          <a:xfrm>
            <a:off x="320040" y="2231136"/>
            <a:ext cx="1600200" cy="749808"/>
          </a:xfrm>
          <a:prstGeom prst="rect">
            <a:avLst/>
          </a:prstGeom>
          <a:solidFill>
            <a:srgbClr val="1C2B40"/>
          </a:solidFill>
          <a:ln w="15240">
            <a:solidFill>
              <a:srgbClr val="DC2626"/>
            </a:solidFill>
            <a:prstDash val="solid"/>
          </a:ln>
        </p:spPr>
        <p:txBody>
          <a:bodyPr/>
          <a:lstStyle/>
          <a:p>
            <a:endParaRPr lang="en-IN"/>
          </a:p>
        </p:txBody>
      </p:sp>
      <p:sp>
        <p:nvSpPr>
          <p:cNvPr id="14" name="Shape 12"/>
          <p:cNvSpPr/>
          <p:nvPr/>
        </p:nvSpPr>
        <p:spPr>
          <a:xfrm>
            <a:off x="320040" y="2231136"/>
            <a:ext cx="1600200" cy="64008"/>
          </a:xfrm>
          <a:prstGeom prst="rect">
            <a:avLst/>
          </a:prstGeom>
          <a:solidFill>
            <a:srgbClr val="DC2626"/>
          </a:solidFill>
          <a:ln w="12700">
            <a:solidFill>
              <a:srgbClr val="DC2626"/>
            </a:solidFill>
            <a:prstDash val="solid"/>
          </a:ln>
        </p:spPr>
        <p:txBody>
          <a:bodyPr/>
          <a:lstStyle/>
          <a:p>
            <a:endParaRPr lang="en-IN"/>
          </a:p>
        </p:txBody>
      </p:sp>
      <p:sp>
        <p:nvSpPr>
          <p:cNvPr id="15" name="Text 13"/>
          <p:cNvSpPr/>
          <p:nvPr/>
        </p:nvSpPr>
        <p:spPr>
          <a:xfrm>
            <a:off x="320040" y="2295144"/>
            <a:ext cx="1600200" cy="438912"/>
          </a:xfrm>
          <a:prstGeom prst="rect">
            <a:avLst/>
          </a:prstGeom>
          <a:noFill/>
          <a:ln/>
        </p:spPr>
        <p:txBody>
          <a:bodyPr wrap="square" lIns="0" tIns="0" rIns="0" bIns="0" rtlCol="0" anchor="ctr"/>
          <a:lstStyle/>
          <a:p>
            <a:pPr marL="0" indent="0" algn="ctr">
              <a:buNone/>
            </a:pPr>
            <a:r>
              <a:rPr lang="en-US" sz="1050" b="1" dirty="0">
                <a:solidFill>
                  <a:srgbClr val="F8FAFC"/>
                </a:solidFill>
                <a:latin typeface="Georgia" pitchFamily="34" charset="0"/>
                <a:ea typeface="Georgia" pitchFamily="34" charset="-122"/>
                <a:cs typeface="Georgia" pitchFamily="34" charset="-120"/>
              </a:rPr>
              <a:t>Recon</a:t>
            </a:r>
            <a:endParaRPr lang="en-US" sz="1050" dirty="0"/>
          </a:p>
          <a:p>
            <a:pPr marL="0" indent="0" algn="ctr">
              <a:buNone/>
            </a:pPr>
            <a:r>
              <a:rPr lang="en-US" sz="1050" b="1" dirty="0">
                <a:solidFill>
                  <a:srgbClr val="F8FAFC"/>
                </a:solidFill>
                <a:latin typeface="Georgia" pitchFamily="34" charset="0"/>
                <a:ea typeface="Georgia" pitchFamily="34" charset="-122"/>
                <a:cs typeface="Georgia" pitchFamily="34" charset="-120"/>
              </a:rPr>
              <a:t>Agent</a:t>
            </a:r>
            <a:endParaRPr lang="en-US" sz="1050" dirty="0"/>
          </a:p>
        </p:txBody>
      </p:sp>
      <p:sp>
        <p:nvSpPr>
          <p:cNvPr id="16" name="Text 14"/>
          <p:cNvSpPr/>
          <p:nvPr/>
        </p:nvSpPr>
        <p:spPr>
          <a:xfrm>
            <a:off x="320040" y="2734056"/>
            <a:ext cx="1600200" cy="219456"/>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Surface mapping</a:t>
            </a:r>
            <a:endParaRPr lang="en-US" sz="800" dirty="0"/>
          </a:p>
        </p:txBody>
      </p:sp>
      <p:sp>
        <p:nvSpPr>
          <p:cNvPr id="17" name="Shape 15"/>
          <p:cNvSpPr/>
          <p:nvPr/>
        </p:nvSpPr>
        <p:spPr>
          <a:xfrm>
            <a:off x="1120140" y="2999232"/>
            <a:ext cx="0" cy="164592"/>
          </a:xfrm>
          <a:prstGeom prst="line">
            <a:avLst/>
          </a:prstGeom>
          <a:noFill/>
          <a:ln w="9525">
            <a:solidFill>
              <a:srgbClr val="94A3B8"/>
            </a:solidFill>
            <a:prstDash val="solid"/>
            <a:tailEnd type="arrow"/>
          </a:ln>
        </p:spPr>
        <p:txBody>
          <a:bodyPr/>
          <a:lstStyle/>
          <a:p>
            <a:endParaRPr lang="en-IN"/>
          </a:p>
        </p:txBody>
      </p:sp>
      <p:sp>
        <p:nvSpPr>
          <p:cNvPr id="18" name="Shape 16"/>
          <p:cNvSpPr/>
          <p:nvPr/>
        </p:nvSpPr>
        <p:spPr>
          <a:xfrm>
            <a:off x="320040" y="3163824"/>
            <a:ext cx="1600200" cy="292608"/>
          </a:xfrm>
          <a:prstGeom prst="rect">
            <a:avLst/>
          </a:prstGeom>
          <a:solidFill>
            <a:srgbClr val="0B1120"/>
          </a:solidFill>
          <a:ln w="6350">
            <a:solidFill>
              <a:srgbClr val="334155"/>
            </a:solidFill>
            <a:prstDash val="solid"/>
          </a:ln>
        </p:spPr>
        <p:txBody>
          <a:bodyPr/>
          <a:lstStyle/>
          <a:p>
            <a:endParaRPr lang="en-IN" dirty="0"/>
          </a:p>
        </p:txBody>
      </p:sp>
      <p:sp>
        <p:nvSpPr>
          <p:cNvPr id="19" name="Shape 17"/>
          <p:cNvSpPr/>
          <p:nvPr/>
        </p:nvSpPr>
        <p:spPr>
          <a:xfrm>
            <a:off x="2857500" y="2048256"/>
            <a:ext cx="0" cy="182880"/>
          </a:xfrm>
          <a:prstGeom prst="line">
            <a:avLst/>
          </a:prstGeom>
          <a:noFill/>
          <a:ln w="12700">
            <a:solidFill>
              <a:srgbClr val="F59E0B"/>
            </a:solidFill>
            <a:prstDash val="solid"/>
            <a:tailEnd type="arrow"/>
          </a:ln>
        </p:spPr>
        <p:txBody>
          <a:bodyPr/>
          <a:lstStyle/>
          <a:p>
            <a:endParaRPr lang="en-IN"/>
          </a:p>
        </p:txBody>
      </p:sp>
      <p:sp>
        <p:nvSpPr>
          <p:cNvPr id="20" name="Shape 18"/>
          <p:cNvSpPr/>
          <p:nvPr/>
        </p:nvSpPr>
        <p:spPr>
          <a:xfrm>
            <a:off x="2057400" y="2231136"/>
            <a:ext cx="1600200" cy="749808"/>
          </a:xfrm>
          <a:prstGeom prst="rect">
            <a:avLst/>
          </a:prstGeom>
          <a:solidFill>
            <a:srgbClr val="1C2B40"/>
          </a:solidFill>
          <a:ln w="15240">
            <a:solidFill>
              <a:srgbClr val="F59E0B"/>
            </a:solidFill>
            <a:prstDash val="solid"/>
          </a:ln>
        </p:spPr>
        <p:txBody>
          <a:bodyPr/>
          <a:lstStyle/>
          <a:p>
            <a:endParaRPr lang="en-IN"/>
          </a:p>
        </p:txBody>
      </p:sp>
      <p:sp>
        <p:nvSpPr>
          <p:cNvPr id="21" name="Shape 19"/>
          <p:cNvSpPr/>
          <p:nvPr/>
        </p:nvSpPr>
        <p:spPr>
          <a:xfrm>
            <a:off x="2057400" y="2231136"/>
            <a:ext cx="1600200" cy="64008"/>
          </a:xfrm>
          <a:prstGeom prst="rect">
            <a:avLst/>
          </a:prstGeom>
          <a:solidFill>
            <a:srgbClr val="F59E0B"/>
          </a:solidFill>
          <a:ln w="12700">
            <a:solidFill>
              <a:srgbClr val="F59E0B"/>
            </a:solidFill>
            <a:prstDash val="solid"/>
          </a:ln>
        </p:spPr>
        <p:txBody>
          <a:bodyPr/>
          <a:lstStyle/>
          <a:p>
            <a:endParaRPr lang="en-IN"/>
          </a:p>
        </p:txBody>
      </p:sp>
      <p:sp>
        <p:nvSpPr>
          <p:cNvPr id="22" name="Text 20"/>
          <p:cNvSpPr/>
          <p:nvPr/>
        </p:nvSpPr>
        <p:spPr>
          <a:xfrm>
            <a:off x="2057400" y="2295144"/>
            <a:ext cx="1600200" cy="438912"/>
          </a:xfrm>
          <a:prstGeom prst="rect">
            <a:avLst/>
          </a:prstGeom>
          <a:noFill/>
          <a:ln/>
        </p:spPr>
        <p:txBody>
          <a:bodyPr wrap="square" lIns="0" tIns="0" rIns="0" bIns="0" rtlCol="0" anchor="ctr"/>
          <a:lstStyle/>
          <a:p>
            <a:pPr marL="0" indent="0" algn="ctr">
              <a:buNone/>
            </a:pPr>
            <a:r>
              <a:rPr lang="en-US" sz="1050" b="1" dirty="0">
                <a:solidFill>
                  <a:srgbClr val="F8FAFC"/>
                </a:solidFill>
                <a:latin typeface="Georgia" pitchFamily="34" charset="0"/>
                <a:ea typeface="Georgia" pitchFamily="34" charset="-122"/>
                <a:cs typeface="Georgia" pitchFamily="34" charset="-120"/>
              </a:rPr>
              <a:t>Threat</a:t>
            </a:r>
            <a:endParaRPr lang="en-US" sz="1050" dirty="0"/>
          </a:p>
          <a:p>
            <a:pPr marL="0" indent="0" algn="ctr">
              <a:buNone/>
            </a:pPr>
            <a:r>
              <a:rPr lang="en-US" sz="1050" b="1" dirty="0">
                <a:solidFill>
                  <a:srgbClr val="F8FAFC"/>
                </a:solidFill>
                <a:latin typeface="Georgia" pitchFamily="34" charset="0"/>
                <a:ea typeface="Georgia" pitchFamily="34" charset="-122"/>
                <a:cs typeface="Georgia" pitchFamily="34" charset="-120"/>
              </a:rPr>
              <a:t>Model</a:t>
            </a:r>
            <a:endParaRPr lang="en-US" sz="1050" dirty="0"/>
          </a:p>
        </p:txBody>
      </p:sp>
      <p:sp>
        <p:nvSpPr>
          <p:cNvPr id="23" name="Text 21"/>
          <p:cNvSpPr/>
          <p:nvPr/>
        </p:nvSpPr>
        <p:spPr>
          <a:xfrm>
            <a:off x="2057400" y="2734056"/>
            <a:ext cx="1600200" cy="219456"/>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TTP classification</a:t>
            </a:r>
            <a:endParaRPr lang="en-US" sz="800" dirty="0"/>
          </a:p>
        </p:txBody>
      </p:sp>
      <p:sp>
        <p:nvSpPr>
          <p:cNvPr id="24" name="Shape 22"/>
          <p:cNvSpPr/>
          <p:nvPr/>
        </p:nvSpPr>
        <p:spPr>
          <a:xfrm>
            <a:off x="2857500" y="2999232"/>
            <a:ext cx="0" cy="164592"/>
          </a:xfrm>
          <a:prstGeom prst="line">
            <a:avLst/>
          </a:prstGeom>
          <a:noFill/>
          <a:ln w="9525">
            <a:solidFill>
              <a:srgbClr val="94A3B8"/>
            </a:solidFill>
            <a:prstDash val="solid"/>
            <a:tailEnd type="arrow"/>
          </a:ln>
        </p:spPr>
        <p:txBody>
          <a:bodyPr/>
          <a:lstStyle/>
          <a:p>
            <a:endParaRPr lang="en-IN"/>
          </a:p>
        </p:txBody>
      </p:sp>
      <p:sp>
        <p:nvSpPr>
          <p:cNvPr id="25" name="Shape 23"/>
          <p:cNvSpPr/>
          <p:nvPr/>
        </p:nvSpPr>
        <p:spPr>
          <a:xfrm>
            <a:off x="2057400" y="3163824"/>
            <a:ext cx="1600200" cy="292608"/>
          </a:xfrm>
          <a:prstGeom prst="rect">
            <a:avLst/>
          </a:prstGeom>
          <a:solidFill>
            <a:srgbClr val="0B1120"/>
          </a:solidFill>
          <a:ln w="6350">
            <a:solidFill>
              <a:srgbClr val="334155"/>
            </a:solidFill>
            <a:prstDash val="solid"/>
          </a:ln>
        </p:spPr>
        <p:txBody>
          <a:bodyPr/>
          <a:lstStyle/>
          <a:p>
            <a:endParaRPr lang="en-IN" dirty="0"/>
          </a:p>
        </p:txBody>
      </p:sp>
      <p:sp>
        <p:nvSpPr>
          <p:cNvPr id="26" name="Shape 24"/>
          <p:cNvSpPr/>
          <p:nvPr/>
        </p:nvSpPr>
        <p:spPr>
          <a:xfrm>
            <a:off x="4594860" y="2048256"/>
            <a:ext cx="0" cy="182880"/>
          </a:xfrm>
          <a:prstGeom prst="line">
            <a:avLst/>
          </a:prstGeom>
          <a:noFill/>
          <a:ln w="12700">
            <a:solidFill>
              <a:srgbClr val="3B82F6"/>
            </a:solidFill>
            <a:prstDash val="solid"/>
            <a:tailEnd type="arrow"/>
          </a:ln>
        </p:spPr>
        <p:txBody>
          <a:bodyPr/>
          <a:lstStyle/>
          <a:p>
            <a:endParaRPr lang="en-IN"/>
          </a:p>
        </p:txBody>
      </p:sp>
      <p:sp>
        <p:nvSpPr>
          <p:cNvPr id="27" name="Shape 25"/>
          <p:cNvSpPr/>
          <p:nvPr/>
        </p:nvSpPr>
        <p:spPr>
          <a:xfrm>
            <a:off x="3794760" y="2231136"/>
            <a:ext cx="1600200" cy="749808"/>
          </a:xfrm>
          <a:prstGeom prst="rect">
            <a:avLst/>
          </a:prstGeom>
          <a:solidFill>
            <a:srgbClr val="1C2B40"/>
          </a:solidFill>
          <a:ln w="15240">
            <a:solidFill>
              <a:srgbClr val="3B82F6"/>
            </a:solidFill>
            <a:prstDash val="solid"/>
          </a:ln>
        </p:spPr>
        <p:txBody>
          <a:bodyPr/>
          <a:lstStyle/>
          <a:p>
            <a:endParaRPr lang="en-IN"/>
          </a:p>
        </p:txBody>
      </p:sp>
      <p:sp>
        <p:nvSpPr>
          <p:cNvPr id="28" name="Shape 26"/>
          <p:cNvSpPr/>
          <p:nvPr/>
        </p:nvSpPr>
        <p:spPr>
          <a:xfrm>
            <a:off x="3794760" y="2231136"/>
            <a:ext cx="1600200" cy="64008"/>
          </a:xfrm>
          <a:prstGeom prst="rect">
            <a:avLst/>
          </a:prstGeom>
          <a:solidFill>
            <a:srgbClr val="3B82F6"/>
          </a:solidFill>
          <a:ln w="12700">
            <a:solidFill>
              <a:srgbClr val="3B82F6"/>
            </a:solidFill>
            <a:prstDash val="solid"/>
          </a:ln>
        </p:spPr>
        <p:txBody>
          <a:bodyPr/>
          <a:lstStyle/>
          <a:p>
            <a:endParaRPr lang="en-IN"/>
          </a:p>
        </p:txBody>
      </p:sp>
      <p:sp>
        <p:nvSpPr>
          <p:cNvPr id="29" name="Text 27"/>
          <p:cNvSpPr/>
          <p:nvPr/>
        </p:nvSpPr>
        <p:spPr>
          <a:xfrm>
            <a:off x="3794760" y="2295144"/>
            <a:ext cx="1600200" cy="438912"/>
          </a:xfrm>
          <a:prstGeom prst="rect">
            <a:avLst/>
          </a:prstGeom>
          <a:noFill/>
          <a:ln/>
        </p:spPr>
        <p:txBody>
          <a:bodyPr wrap="square" lIns="0" tIns="0" rIns="0" bIns="0" rtlCol="0" anchor="ctr"/>
          <a:lstStyle/>
          <a:p>
            <a:pPr marL="0" indent="0" algn="ctr">
              <a:buNone/>
            </a:pPr>
            <a:r>
              <a:rPr lang="en-US" sz="1050" b="1" dirty="0">
                <a:solidFill>
                  <a:srgbClr val="F8FAFC"/>
                </a:solidFill>
                <a:latin typeface="Georgia" pitchFamily="34" charset="0"/>
                <a:ea typeface="Georgia" pitchFamily="34" charset="-122"/>
                <a:cs typeface="Georgia" pitchFamily="34" charset="-120"/>
              </a:rPr>
              <a:t>Exploit</a:t>
            </a:r>
            <a:endParaRPr lang="en-US" sz="1050" dirty="0"/>
          </a:p>
          <a:p>
            <a:pPr marL="0" indent="0" algn="ctr">
              <a:buNone/>
            </a:pPr>
            <a:r>
              <a:rPr lang="en-US" sz="1050" b="1" dirty="0">
                <a:solidFill>
                  <a:srgbClr val="F8FAFC"/>
                </a:solidFill>
                <a:latin typeface="Georgia" pitchFamily="34" charset="0"/>
                <a:ea typeface="Georgia" pitchFamily="34" charset="-122"/>
                <a:cs typeface="Georgia" pitchFamily="34" charset="-120"/>
              </a:rPr>
              <a:t>Engine</a:t>
            </a:r>
            <a:endParaRPr lang="en-US" sz="1050" dirty="0"/>
          </a:p>
        </p:txBody>
      </p:sp>
      <p:sp>
        <p:nvSpPr>
          <p:cNvPr id="30" name="Text 28"/>
          <p:cNvSpPr/>
          <p:nvPr/>
        </p:nvSpPr>
        <p:spPr>
          <a:xfrm>
            <a:off x="3794760" y="2734056"/>
            <a:ext cx="1600200" cy="219456"/>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Attack + self-correct</a:t>
            </a:r>
            <a:endParaRPr lang="en-US" sz="800" dirty="0"/>
          </a:p>
        </p:txBody>
      </p:sp>
      <p:sp>
        <p:nvSpPr>
          <p:cNvPr id="31" name="Shape 29"/>
          <p:cNvSpPr/>
          <p:nvPr/>
        </p:nvSpPr>
        <p:spPr>
          <a:xfrm>
            <a:off x="4594860" y="2999232"/>
            <a:ext cx="0" cy="164592"/>
          </a:xfrm>
          <a:prstGeom prst="line">
            <a:avLst/>
          </a:prstGeom>
          <a:noFill/>
          <a:ln w="9525">
            <a:solidFill>
              <a:srgbClr val="94A3B8"/>
            </a:solidFill>
            <a:prstDash val="solid"/>
            <a:tailEnd type="arrow"/>
          </a:ln>
        </p:spPr>
        <p:txBody>
          <a:bodyPr/>
          <a:lstStyle/>
          <a:p>
            <a:endParaRPr lang="en-IN"/>
          </a:p>
        </p:txBody>
      </p:sp>
      <p:sp>
        <p:nvSpPr>
          <p:cNvPr id="32" name="Shape 30"/>
          <p:cNvSpPr/>
          <p:nvPr/>
        </p:nvSpPr>
        <p:spPr>
          <a:xfrm>
            <a:off x="3794760" y="3163824"/>
            <a:ext cx="1600200" cy="292608"/>
          </a:xfrm>
          <a:prstGeom prst="rect">
            <a:avLst/>
          </a:prstGeom>
          <a:solidFill>
            <a:srgbClr val="0B1120"/>
          </a:solidFill>
          <a:ln w="6350">
            <a:solidFill>
              <a:srgbClr val="334155"/>
            </a:solidFill>
            <a:prstDash val="solid"/>
          </a:ln>
        </p:spPr>
        <p:txBody>
          <a:bodyPr/>
          <a:lstStyle/>
          <a:p>
            <a:endParaRPr lang="en-IN"/>
          </a:p>
        </p:txBody>
      </p:sp>
      <p:sp>
        <p:nvSpPr>
          <p:cNvPr id="33" name="Shape 31"/>
          <p:cNvSpPr/>
          <p:nvPr/>
        </p:nvSpPr>
        <p:spPr>
          <a:xfrm>
            <a:off x="6332220" y="2048256"/>
            <a:ext cx="0" cy="182880"/>
          </a:xfrm>
          <a:prstGeom prst="line">
            <a:avLst/>
          </a:prstGeom>
          <a:noFill/>
          <a:ln w="12700">
            <a:solidFill>
              <a:srgbClr val="10B981"/>
            </a:solidFill>
            <a:prstDash val="solid"/>
            <a:tailEnd type="arrow"/>
          </a:ln>
        </p:spPr>
        <p:txBody>
          <a:bodyPr/>
          <a:lstStyle/>
          <a:p>
            <a:endParaRPr lang="en-IN"/>
          </a:p>
        </p:txBody>
      </p:sp>
      <p:sp>
        <p:nvSpPr>
          <p:cNvPr id="34" name="Shape 32"/>
          <p:cNvSpPr/>
          <p:nvPr/>
        </p:nvSpPr>
        <p:spPr>
          <a:xfrm>
            <a:off x="5532120" y="2231136"/>
            <a:ext cx="1600200" cy="749808"/>
          </a:xfrm>
          <a:prstGeom prst="rect">
            <a:avLst/>
          </a:prstGeom>
          <a:solidFill>
            <a:srgbClr val="1C2B40"/>
          </a:solidFill>
          <a:ln w="15240">
            <a:solidFill>
              <a:srgbClr val="10B981"/>
            </a:solidFill>
            <a:prstDash val="solid"/>
          </a:ln>
        </p:spPr>
        <p:txBody>
          <a:bodyPr/>
          <a:lstStyle/>
          <a:p>
            <a:endParaRPr lang="en-IN"/>
          </a:p>
        </p:txBody>
      </p:sp>
      <p:sp>
        <p:nvSpPr>
          <p:cNvPr id="35" name="Shape 33"/>
          <p:cNvSpPr/>
          <p:nvPr/>
        </p:nvSpPr>
        <p:spPr>
          <a:xfrm>
            <a:off x="5532120" y="2231136"/>
            <a:ext cx="1600200" cy="64008"/>
          </a:xfrm>
          <a:prstGeom prst="rect">
            <a:avLst/>
          </a:prstGeom>
          <a:solidFill>
            <a:srgbClr val="10B981"/>
          </a:solidFill>
          <a:ln w="12700">
            <a:solidFill>
              <a:srgbClr val="10B981"/>
            </a:solidFill>
            <a:prstDash val="solid"/>
          </a:ln>
        </p:spPr>
        <p:txBody>
          <a:bodyPr/>
          <a:lstStyle/>
          <a:p>
            <a:endParaRPr lang="en-IN"/>
          </a:p>
        </p:txBody>
      </p:sp>
      <p:sp>
        <p:nvSpPr>
          <p:cNvPr id="36" name="Text 34"/>
          <p:cNvSpPr/>
          <p:nvPr/>
        </p:nvSpPr>
        <p:spPr>
          <a:xfrm>
            <a:off x="5532120" y="2295144"/>
            <a:ext cx="1600200" cy="438912"/>
          </a:xfrm>
          <a:prstGeom prst="rect">
            <a:avLst/>
          </a:prstGeom>
          <a:noFill/>
          <a:ln/>
        </p:spPr>
        <p:txBody>
          <a:bodyPr wrap="square" lIns="0" tIns="0" rIns="0" bIns="0" rtlCol="0" anchor="ctr"/>
          <a:lstStyle/>
          <a:p>
            <a:pPr marL="0" indent="0" algn="ctr">
              <a:buNone/>
            </a:pPr>
            <a:r>
              <a:rPr lang="en-US" sz="1050" b="1" dirty="0">
                <a:solidFill>
                  <a:srgbClr val="F8FAFC"/>
                </a:solidFill>
                <a:latin typeface="Georgia" pitchFamily="34" charset="0"/>
                <a:ea typeface="Georgia" pitchFamily="34" charset="-122"/>
                <a:cs typeface="Georgia" pitchFamily="34" charset="-120"/>
              </a:rPr>
              <a:t>Patch</a:t>
            </a:r>
            <a:endParaRPr lang="en-US" sz="1050" dirty="0"/>
          </a:p>
          <a:p>
            <a:pPr marL="0" indent="0" algn="ctr">
              <a:buNone/>
            </a:pPr>
            <a:r>
              <a:rPr lang="en-US" sz="1050" b="1" dirty="0">
                <a:solidFill>
                  <a:srgbClr val="F8FAFC"/>
                </a:solidFill>
                <a:latin typeface="Georgia" pitchFamily="34" charset="0"/>
                <a:ea typeface="Georgia" pitchFamily="34" charset="-122"/>
                <a:cs typeface="Georgia" pitchFamily="34" charset="-120"/>
              </a:rPr>
              <a:t>Agent</a:t>
            </a:r>
            <a:endParaRPr lang="en-US" sz="1050" dirty="0"/>
          </a:p>
        </p:txBody>
      </p:sp>
      <p:sp>
        <p:nvSpPr>
          <p:cNvPr id="37" name="Text 35"/>
          <p:cNvSpPr/>
          <p:nvPr/>
        </p:nvSpPr>
        <p:spPr>
          <a:xfrm>
            <a:off x="5532120" y="2734056"/>
            <a:ext cx="1600200" cy="219456"/>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CVE remediation</a:t>
            </a:r>
            <a:endParaRPr lang="en-US" sz="800" dirty="0"/>
          </a:p>
        </p:txBody>
      </p:sp>
      <p:sp>
        <p:nvSpPr>
          <p:cNvPr id="38" name="Shape 36"/>
          <p:cNvSpPr/>
          <p:nvPr/>
        </p:nvSpPr>
        <p:spPr>
          <a:xfrm>
            <a:off x="6332220" y="2999232"/>
            <a:ext cx="0" cy="164592"/>
          </a:xfrm>
          <a:prstGeom prst="line">
            <a:avLst/>
          </a:prstGeom>
          <a:noFill/>
          <a:ln w="9525">
            <a:solidFill>
              <a:srgbClr val="94A3B8"/>
            </a:solidFill>
            <a:prstDash val="solid"/>
            <a:tailEnd type="arrow"/>
          </a:ln>
        </p:spPr>
        <p:txBody>
          <a:bodyPr/>
          <a:lstStyle/>
          <a:p>
            <a:endParaRPr lang="en-IN"/>
          </a:p>
        </p:txBody>
      </p:sp>
      <p:sp>
        <p:nvSpPr>
          <p:cNvPr id="39" name="Shape 37"/>
          <p:cNvSpPr/>
          <p:nvPr/>
        </p:nvSpPr>
        <p:spPr>
          <a:xfrm>
            <a:off x="5532120" y="3163824"/>
            <a:ext cx="1600200" cy="292608"/>
          </a:xfrm>
          <a:prstGeom prst="rect">
            <a:avLst/>
          </a:prstGeom>
          <a:solidFill>
            <a:srgbClr val="0B1120"/>
          </a:solidFill>
          <a:ln w="6350">
            <a:solidFill>
              <a:srgbClr val="334155"/>
            </a:solidFill>
            <a:prstDash val="solid"/>
          </a:ln>
        </p:spPr>
        <p:txBody>
          <a:bodyPr/>
          <a:lstStyle/>
          <a:p>
            <a:endParaRPr lang="en-IN"/>
          </a:p>
        </p:txBody>
      </p:sp>
      <p:sp>
        <p:nvSpPr>
          <p:cNvPr id="40" name="Shape 38"/>
          <p:cNvSpPr/>
          <p:nvPr/>
        </p:nvSpPr>
        <p:spPr>
          <a:xfrm>
            <a:off x="8069580" y="2048256"/>
            <a:ext cx="0" cy="182880"/>
          </a:xfrm>
          <a:prstGeom prst="line">
            <a:avLst/>
          </a:prstGeom>
          <a:noFill/>
          <a:ln w="12700">
            <a:solidFill>
              <a:srgbClr val="8B5CF6"/>
            </a:solidFill>
            <a:prstDash val="solid"/>
            <a:tailEnd type="arrow"/>
          </a:ln>
        </p:spPr>
        <p:txBody>
          <a:bodyPr/>
          <a:lstStyle/>
          <a:p>
            <a:endParaRPr lang="en-IN"/>
          </a:p>
        </p:txBody>
      </p:sp>
      <p:sp>
        <p:nvSpPr>
          <p:cNvPr id="41" name="Shape 39"/>
          <p:cNvSpPr/>
          <p:nvPr/>
        </p:nvSpPr>
        <p:spPr>
          <a:xfrm>
            <a:off x="7269480" y="2231136"/>
            <a:ext cx="1600200" cy="749808"/>
          </a:xfrm>
          <a:prstGeom prst="rect">
            <a:avLst/>
          </a:prstGeom>
          <a:solidFill>
            <a:srgbClr val="1C2B40"/>
          </a:solidFill>
          <a:ln w="15240">
            <a:solidFill>
              <a:srgbClr val="8B5CF6"/>
            </a:solidFill>
            <a:prstDash val="solid"/>
          </a:ln>
        </p:spPr>
        <p:txBody>
          <a:bodyPr/>
          <a:lstStyle/>
          <a:p>
            <a:endParaRPr lang="en-IN"/>
          </a:p>
        </p:txBody>
      </p:sp>
      <p:sp>
        <p:nvSpPr>
          <p:cNvPr id="42" name="Shape 40"/>
          <p:cNvSpPr/>
          <p:nvPr/>
        </p:nvSpPr>
        <p:spPr>
          <a:xfrm>
            <a:off x="7269480" y="2231136"/>
            <a:ext cx="1600200" cy="64008"/>
          </a:xfrm>
          <a:prstGeom prst="rect">
            <a:avLst/>
          </a:prstGeom>
          <a:solidFill>
            <a:srgbClr val="8B5CF6"/>
          </a:solidFill>
          <a:ln w="12700">
            <a:solidFill>
              <a:srgbClr val="8B5CF6"/>
            </a:solidFill>
            <a:prstDash val="solid"/>
          </a:ln>
        </p:spPr>
        <p:txBody>
          <a:bodyPr/>
          <a:lstStyle/>
          <a:p>
            <a:endParaRPr lang="en-IN"/>
          </a:p>
        </p:txBody>
      </p:sp>
      <p:sp>
        <p:nvSpPr>
          <p:cNvPr id="43" name="Text 41"/>
          <p:cNvSpPr/>
          <p:nvPr/>
        </p:nvSpPr>
        <p:spPr>
          <a:xfrm>
            <a:off x="7269480" y="2295144"/>
            <a:ext cx="1600200" cy="438912"/>
          </a:xfrm>
          <a:prstGeom prst="rect">
            <a:avLst/>
          </a:prstGeom>
          <a:noFill/>
          <a:ln/>
        </p:spPr>
        <p:txBody>
          <a:bodyPr wrap="square" lIns="0" tIns="0" rIns="0" bIns="0" rtlCol="0" anchor="ctr"/>
          <a:lstStyle/>
          <a:p>
            <a:pPr marL="0" indent="0" algn="ctr">
              <a:buNone/>
            </a:pPr>
            <a:r>
              <a:rPr lang="en-US" sz="1050" b="1" dirty="0">
                <a:solidFill>
                  <a:srgbClr val="F8FAFC"/>
                </a:solidFill>
                <a:latin typeface="Georgia" pitchFamily="34" charset="0"/>
                <a:ea typeface="Georgia" pitchFamily="34" charset="-122"/>
                <a:cs typeface="Georgia" pitchFamily="34" charset="-120"/>
              </a:rPr>
              <a:t>Report</a:t>
            </a:r>
            <a:endParaRPr lang="en-US" sz="1050" dirty="0"/>
          </a:p>
          <a:p>
            <a:pPr marL="0" indent="0" algn="ctr">
              <a:buNone/>
            </a:pPr>
            <a:r>
              <a:rPr lang="en-US" sz="1050" b="1" dirty="0">
                <a:solidFill>
                  <a:srgbClr val="F8FAFC"/>
                </a:solidFill>
                <a:latin typeface="Georgia" pitchFamily="34" charset="0"/>
                <a:ea typeface="Georgia" pitchFamily="34" charset="-122"/>
                <a:cs typeface="Georgia" pitchFamily="34" charset="-120"/>
              </a:rPr>
              <a:t>Agent</a:t>
            </a:r>
            <a:endParaRPr lang="en-US" sz="1050" dirty="0"/>
          </a:p>
        </p:txBody>
      </p:sp>
      <p:sp>
        <p:nvSpPr>
          <p:cNvPr id="44" name="Text 42"/>
          <p:cNvSpPr/>
          <p:nvPr/>
        </p:nvSpPr>
        <p:spPr>
          <a:xfrm>
            <a:off x="7269480" y="2734056"/>
            <a:ext cx="1600200" cy="219456"/>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Findings + audit</a:t>
            </a:r>
            <a:endParaRPr lang="en-US" sz="800" dirty="0"/>
          </a:p>
        </p:txBody>
      </p:sp>
      <p:sp>
        <p:nvSpPr>
          <p:cNvPr id="45" name="Shape 43"/>
          <p:cNvSpPr/>
          <p:nvPr/>
        </p:nvSpPr>
        <p:spPr>
          <a:xfrm>
            <a:off x="8069580" y="2999232"/>
            <a:ext cx="0" cy="164592"/>
          </a:xfrm>
          <a:prstGeom prst="line">
            <a:avLst/>
          </a:prstGeom>
          <a:noFill/>
          <a:ln w="9525">
            <a:solidFill>
              <a:srgbClr val="94A3B8"/>
            </a:solidFill>
            <a:prstDash val="solid"/>
            <a:tailEnd type="arrow"/>
          </a:ln>
        </p:spPr>
        <p:txBody>
          <a:bodyPr/>
          <a:lstStyle/>
          <a:p>
            <a:endParaRPr lang="en-IN"/>
          </a:p>
        </p:txBody>
      </p:sp>
      <p:sp>
        <p:nvSpPr>
          <p:cNvPr id="46" name="Shape 44"/>
          <p:cNvSpPr/>
          <p:nvPr/>
        </p:nvSpPr>
        <p:spPr>
          <a:xfrm>
            <a:off x="7269480" y="3163824"/>
            <a:ext cx="1600200" cy="292608"/>
          </a:xfrm>
          <a:prstGeom prst="rect">
            <a:avLst/>
          </a:prstGeom>
          <a:solidFill>
            <a:srgbClr val="0B1120"/>
          </a:solidFill>
          <a:ln w="6350">
            <a:solidFill>
              <a:srgbClr val="334155"/>
            </a:solidFill>
            <a:prstDash val="solid"/>
          </a:ln>
        </p:spPr>
        <p:txBody>
          <a:bodyPr/>
          <a:lstStyle/>
          <a:p>
            <a:endParaRPr lang="en-IN"/>
          </a:p>
        </p:txBody>
      </p:sp>
      <p:sp>
        <p:nvSpPr>
          <p:cNvPr id="47" name="Text 45"/>
          <p:cNvSpPr/>
          <p:nvPr/>
        </p:nvSpPr>
        <p:spPr>
          <a:xfrm>
            <a:off x="320040" y="3163824"/>
            <a:ext cx="1600200" cy="292608"/>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nmap · Shodan. </a:t>
            </a:r>
            <a:r>
              <a:rPr lang="en-US" sz="800" dirty="0" err="1">
                <a:solidFill>
                  <a:srgbClr val="94A3B8"/>
                </a:solidFill>
                <a:latin typeface="Calibri" pitchFamily="34" charset="0"/>
                <a:ea typeface="Calibri" pitchFamily="34" charset="-122"/>
                <a:cs typeface="Calibri" pitchFamily="34" charset="-120"/>
              </a:rPr>
              <a:t>Censys</a:t>
            </a:r>
            <a:endParaRPr lang="en-US" sz="800" dirty="0"/>
          </a:p>
        </p:txBody>
      </p:sp>
      <p:sp>
        <p:nvSpPr>
          <p:cNvPr id="48" name="Text 46"/>
          <p:cNvSpPr/>
          <p:nvPr/>
        </p:nvSpPr>
        <p:spPr>
          <a:xfrm>
            <a:off x="2057400" y="3163824"/>
            <a:ext cx="1600200" cy="292608"/>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MITRE ATT&amp;CK  STRIDE</a:t>
            </a:r>
            <a:endParaRPr lang="en-US" sz="800" dirty="0"/>
          </a:p>
        </p:txBody>
      </p:sp>
      <p:sp>
        <p:nvSpPr>
          <p:cNvPr id="49" name="Text 47"/>
          <p:cNvSpPr/>
          <p:nvPr/>
        </p:nvSpPr>
        <p:spPr>
          <a:xfrm>
            <a:off x="3794760" y="3163824"/>
            <a:ext cx="1600200" cy="292608"/>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Semgrep · Bandit</a:t>
            </a:r>
            <a:endParaRPr lang="en-US" sz="800" dirty="0"/>
          </a:p>
        </p:txBody>
      </p:sp>
      <p:sp>
        <p:nvSpPr>
          <p:cNvPr id="50" name="Text 48"/>
          <p:cNvSpPr/>
          <p:nvPr/>
        </p:nvSpPr>
        <p:spPr>
          <a:xfrm>
            <a:off x="5532120" y="3163824"/>
            <a:ext cx="1600200" cy="292608"/>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NVD · CVE API</a:t>
            </a:r>
            <a:endParaRPr lang="en-US" sz="800" dirty="0"/>
          </a:p>
        </p:txBody>
      </p:sp>
      <p:sp>
        <p:nvSpPr>
          <p:cNvPr id="51" name="Text 49"/>
          <p:cNvSpPr/>
          <p:nvPr/>
        </p:nvSpPr>
        <p:spPr>
          <a:xfrm>
            <a:off x="7269480" y="3163824"/>
            <a:ext cx="1600200" cy="292608"/>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Claude API</a:t>
            </a:r>
            <a:endParaRPr lang="en-US" sz="800" dirty="0"/>
          </a:p>
        </p:txBody>
      </p:sp>
      <p:sp>
        <p:nvSpPr>
          <p:cNvPr id="52" name="Text 50"/>
          <p:cNvSpPr/>
          <p:nvPr/>
        </p:nvSpPr>
        <p:spPr>
          <a:xfrm>
            <a:off x="347472" y="3511296"/>
            <a:ext cx="8412480" cy="182880"/>
          </a:xfrm>
          <a:prstGeom prst="rect">
            <a:avLst/>
          </a:prstGeom>
          <a:noFill/>
          <a:ln/>
        </p:spPr>
        <p:txBody>
          <a:bodyPr wrap="square" lIns="0" tIns="0" rIns="0" bIns="0" rtlCol="0" anchor="ctr"/>
          <a:lstStyle/>
          <a:p>
            <a:pPr marL="0" indent="0" algn="ctr">
              <a:buNone/>
            </a:pPr>
            <a:r>
              <a:rPr lang="en-US" sz="1100" i="1" dirty="0">
                <a:solidFill>
                  <a:srgbClr val="475569"/>
                </a:solidFill>
                <a:latin typeface="Calibri" pitchFamily="34" charset="0"/>
                <a:ea typeface="Calibri" pitchFamily="34" charset="-122"/>
                <a:cs typeface="Calibri" pitchFamily="34" charset="-120"/>
              </a:rPr>
              <a:t>Sandboxed</a:t>
            </a:r>
            <a:r>
              <a:rPr lang="en-US" sz="1000" i="1" dirty="0">
                <a:solidFill>
                  <a:srgbClr val="475569"/>
                </a:solidFill>
                <a:latin typeface="Calibri" pitchFamily="34" charset="0"/>
                <a:ea typeface="Calibri" pitchFamily="34" charset="-122"/>
                <a:cs typeface="Calibri" pitchFamily="34" charset="-120"/>
              </a:rPr>
              <a:t> Execution Zone  ·  Prompt-injection guard  ·  One container per tool call</a:t>
            </a:r>
            <a:endParaRPr lang="en-US" sz="1000" dirty="0"/>
          </a:p>
        </p:txBody>
      </p:sp>
      <p:sp>
        <p:nvSpPr>
          <p:cNvPr id="53" name="Shape 51"/>
          <p:cNvSpPr/>
          <p:nvPr/>
        </p:nvSpPr>
        <p:spPr>
          <a:xfrm>
            <a:off x="274320" y="3852567"/>
            <a:ext cx="4160520" cy="438912"/>
          </a:xfrm>
          <a:prstGeom prst="rect">
            <a:avLst/>
          </a:prstGeom>
          <a:solidFill>
            <a:srgbClr val="071A1A"/>
          </a:solidFill>
          <a:ln w="12700">
            <a:solidFill>
              <a:srgbClr val="10B981"/>
            </a:solidFill>
            <a:prstDash val="solid"/>
          </a:ln>
        </p:spPr>
        <p:txBody>
          <a:bodyPr/>
          <a:lstStyle/>
          <a:p>
            <a:endParaRPr lang="en-IN"/>
          </a:p>
        </p:txBody>
      </p:sp>
      <p:sp>
        <p:nvSpPr>
          <p:cNvPr id="54" name="Text 52"/>
          <p:cNvSpPr/>
          <p:nvPr/>
        </p:nvSpPr>
        <p:spPr>
          <a:xfrm>
            <a:off x="274320" y="3852567"/>
            <a:ext cx="4160520" cy="438912"/>
          </a:xfrm>
          <a:prstGeom prst="rect">
            <a:avLst/>
          </a:prstGeom>
          <a:noFill/>
          <a:ln/>
        </p:spPr>
        <p:txBody>
          <a:bodyPr wrap="square" lIns="0" tIns="0" rIns="0" bIns="0" rtlCol="0" anchor="ctr"/>
          <a:lstStyle/>
          <a:p>
            <a:pPr marL="0" indent="0" algn="ctr">
              <a:buNone/>
            </a:pPr>
            <a:r>
              <a:rPr lang="en-US" sz="1000" b="1" dirty="0">
                <a:solidFill>
                  <a:srgbClr val="10B981"/>
                </a:solidFill>
                <a:latin typeface="Georgia" pitchFamily="34" charset="0"/>
                <a:ea typeface="Georgia" pitchFamily="34" charset="-122"/>
                <a:cs typeface="Georgia" pitchFamily="34" charset="-120"/>
              </a:rPr>
              <a:t>Memory Layer  ·  ChromaDB  ·  Vector Context  ·  Session Learning</a:t>
            </a:r>
            <a:endParaRPr lang="en-US" sz="1000" dirty="0"/>
          </a:p>
        </p:txBody>
      </p:sp>
      <p:sp>
        <p:nvSpPr>
          <p:cNvPr id="55" name="Shape 53"/>
          <p:cNvSpPr/>
          <p:nvPr/>
        </p:nvSpPr>
        <p:spPr>
          <a:xfrm>
            <a:off x="4709160" y="3852567"/>
            <a:ext cx="4160520" cy="438912"/>
          </a:xfrm>
          <a:prstGeom prst="rect">
            <a:avLst/>
          </a:prstGeom>
          <a:solidFill>
            <a:srgbClr val="0F0A20"/>
          </a:solidFill>
          <a:ln w="12700">
            <a:solidFill>
              <a:srgbClr val="8B5CF6"/>
            </a:solidFill>
            <a:prstDash val="solid"/>
          </a:ln>
        </p:spPr>
        <p:txBody>
          <a:bodyPr/>
          <a:lstStyle/>
          <a:p>
            <a:endParaRPr lang="en-IN"/>
          </a:p>
        </p:txBody>
      </p:sp>
      <p:sp>
        <p:nvSpPr>
          <p:cNvPr id="56" name="Text 54"/>
          <p:cNvSpPr/>
          <p:nvPr/>
        </p:nvSpPr>
        <p:spPr>
          <a:xfrm>
            <a:off x="4709160" y="3852567"/>
            <a:ext cx="4160520" cy="438912"/>
          </a:xfrm>
          <a:prstGeom prst="rect">
            <a:avLst/>
          </a:prstGeom>
          <a:noFill/>
          <a:ln/>
        </p:spPr>
        <p:txBody>
          <a:bodyPr wrap="square" lIns="0" tIns="0" rIns="0" bIns="0" rtlCol="0" anchor="ctr"/>
          <a:lstStyle/>
          <a:p>
            <a:pPr marL="0" indent="0" algn="ctr">
              <a:buNone/>
            </a:pPr>
            <a:r>
              <a:rPr lang="en-US" sz="1000" b="1" dirty="0">
                <a:solidFill>
                  <a:srgbClr val="8B5CF6"/>
                </a:solidFill>
                <a:latin typeface="Georgia" pitchFamily="34" charset="0"/>
                <a:ea typeface="Georgia" pitchFamily="34" charset="-122"/>
                <a:cs typeface="Georgia" pitchFamily="34" charset="-120"/>
              </a:rPr>
              <a:t>Output  ·  Prioritised Findings  ·  CVSS Scores  ·  Signed Patch Diffs</a:t>
            </a:r>
            <a:endParaRPr lang="en-US" sz="1000" dirty="0"/>
          </a:p>
        </p:txBody>
      </p:sp>
      <p:sp>
        <p:nvSpPr>
          <p:cNvPr id="57" name="Text 55"/>
          <p:cNvSpPr/>
          <p:nvPr/>
        </p:nvSpPr>
        <p:spPr>
          <a:xfrm>
            <a:off x="274320" y="4387491"/>
            <a:ext cx="8229600" cy="182880"/>
          </a:xfrm>
          <a:prstGeom prst="rect">
            <a:avLst/>
          </a:prstGeom>
          <a:noFill/>
          <a:ln/>
        </p:spPr>
        <p:txBody>
          <a:bodyPr wrap="square" lIns="0" tIns="0" rIns="0" bIns="0" rtlCol="0" anchor="ctr"/>
          <a:lstStyle/>
          <a:p>
            <a:pPr marL="0" indent="0" algn="l">
              <a:buNone/>
            </a:pPr>
            <a:r>
              <a:rPr lang="en-US" sz="1100" i="1" dirty="0">
                <a:solidFill>
                  <a:srgbClr val="475569"/>
                </a:solidFill>
                <a:latin typeface="Calibri" pitchFamily="34" charset="0"/>
                <a:ea typeface="Calibri" pitchFamily="34" charset="-122"/>
                <a:cs typeface="Calibri" pitchFamily="34" charset="-120"/>
              </a:rPr>
              <a:t>memory → orchestrator (prevents repeating failed exploit vectors)</a:t>
            </a:r>
            <a:endParaRPr lang="en-US" sz="1100" dirty="0"/>
          </a:p>
        </p:txBody>
      </p:sp>
      <p:sp>
        <p:nvSpPr>
          <p:cNvPr id="58" name="Shape 56"/>
          <p:cNvSpPr/>
          <p:nvPr/>
        </p:nvSpPr>
        <p:spPr>
          <a:xfrm>
            <a:off x="365760" y="4913271"/>
            <a:ext cx="128016" cy="128016"/>
          </a:xfrm>
          <a:prstGeom prst="rect">
            <a:avLst/>
          </a:prstGeom>
          <a:solidFill>
            <a:srgbClr val="3B82F6"/>
          </a:solidFill>
          <a:ln w="12700">
            <a:solidFill>
              <a:srgbClr val="3B82F6"/>
            </a:solidFill>
            <a:prstDash val="solid"/>
          </a:ln>
        </p:spPr>
        <p:txBody>
          <a:bodyPr/>
          <a:lstStyle/>
          <a:p>
            <a:endParaRPr lang="en-IN"/>
          </a:p>
        </p:txBody>
      </p:sp>
      <p:sp>
        <p:nvSpPr>
          <p:cNvPr id="59" name="Text 57"/>
          <p:cNvSpPr/>
          <p:nvPr/>
        </p:nvSpPr>
        <p:spPr>
          <a:xfrm>
            <a:off x="530352" y="4894983"/>
            <a:ext cx="914400" cy="16459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Agent</a:t>
            </a:r>
            <a:endParaRPr lang="en-US" sz="850" dirty="0"/>
          </a:p>
        </p:txBody>
      </p:sp>
      <p:sp>
        <p:nvSpPr>
          <p:cNvPr id="60" name="Shape 58"/>
          <p:cNvSpPr/>
          <p:nvPr/>
        </p:nvSpPr>
        <p:spPr>
          <a:xfrm>
            <a:off x="1645920" y="4913271"/>
            <a:ext cx="128016" cy="128016"/>
          </a:xfrm>
          <a:prstGeom prst="rect">
            <a:avLst/>
          </a:prstGeom>
          <a:solidFill>
            <a:srgbClr val="94A3B8"/>
          </a:solidFill>
          <a:ln w="12700">
            <a:solidFill>
              <a:srgbClr val="94A3B8"/>
            </a:solidFill>
            <a:prstDash val="solid"/>
          </a:ln>
        </p:spPr>
        <p:txBody>
          <a:bodyPr/>
          <a:lstStyle/>
          <a:p>
            <a:endParaRPr lang="en-IN"/>
          </a:p>
        </p:txBody>
      </p:sp>
      <p:sp>
        <p:nvSpPr>
          <p:cNvPr id="61" name="Text 59"/>
          <p:cNvSpPr/>
          <p:nvPr/>
        </p:nvSpPr>
        <p:spPr>
          <a:xfrm>
            <a:off x="1810512" y="4894983"/>
            <a:ext cx="914400" cy="16459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Tool</a:t>
            </a:r>
            <a:endParaRPr lang="en-US" sz="850" dirty="0"/>
          </a:p>
        </p:txBody>
      </p:sp>
      <p:sp>
        <p:nvSpPr>
          <p:cNvPr id="62" name="Shape 60"/>
          <p:cNvSpPr/>
          <p:nvPr/>
        </p:nvSpPr>
        <p:spPr>
          <a:xfrm>
            <a:off x="2926080" y="4913271"/>
            <a:ext cx="128016" cy="128016"/>
          </a:xfrm>
          <a:prstGeom prst="rect">
            <a:avLst/>
          </a:prstGeom>
          <a:solidFill>
            <a:srgbClr val="10B981"/>
          </a:solidFill>
          <a:ln w="12700">
            <a:solidFill>
              <a:srgbClr val="10B981"/>
            </a:solidFill>
            <a:prstDash val="solid"/>
          </a:ln>
        </p:spPr>
        <p:txBody>
          <a:bodyPr/>
          <a:lstStyle/>
          <a:p>
            <a:endParaRPr lang="en-IN"/>
          </a:p>
        </p:txBody>
      </p:sp>
      <p:sp>
        <p:nvSpPr>
          <p:cNvPr id="63" name="Text 61"/>
          <p:cNvSpPr/>
          <p:nvPr/>
        </p:nvSpPr>
        <p:spPr>
          <a:xfrm>
            <a:off x="3090672" y="4894983"/>
            <a:ext cx="914400" cy="16459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Memory</a:t>
            </a:r>
            <a:endParaRPr lang="en-US" sz="850" dirty="0"/>
          </a:p>
        </p:txBody>
      </p:sp>
      <p:sp>
        <p:nvSpPr>
          <p:cNvPr id="64" name="Shape 62"/>
          <p:cNvSpPr/>
          <p:nvPr/>
        </p:nvSpPr>
        <p:spPr>
          <a:xfrm>
            <a:off x="4206240" y="4913271"/>
            <a:ext cx="128016" cy="128016"/>
          </a:xfrm>
          <a:prstGeom prst="rect">
            <a:avLst/>
          </a:prstGeom>
          <a:solidFill>
            <a:srgbClr val="8B5CF6"/>
          </a:solidFill>
          <a:ln w="12700">
            <a:solidFill>
              <a:srgbClr val="8B5CF6"/>
            </a:solidFill>
            <a:prstDash val="solid"/>
          </a:ln>
        </p:spPr>
        <p:txBody>
          <a:bodyPr/>
          <a:lstStyle/>
          <a:p>
            <a:endParaRPr lang="en-IN"/>
          </a:p>
        </p:txBody>
      </p:sp>
      <p:sp>
        <p:nvSpPr>
          <p:cNvPr id="65" name="Text 63"/>
          <p:cNvSpPr/>
          <p:nvPr/>
        </p:nvSpPr>
        <p:spPr>
          <a:xfrm>
            <a:off x="4370832" y="4894983"/>
            <a:ext cx="914400" cy="16459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Output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120"/>
          </a:solidFill>
          <a:ln w="12700">
            <a:solidFill>
              <a:srgbClr val="0B1120"/>
            </a:solidFill>
            <a:prstDash val="solid"/>
          </a:ln>
        </p:spPr>
        <p:txBody>
          <a:bodyPr/>
          <a:lstStyle/>
          <a:p>
            <a:endParaRPr lang="en-IN"/>
          </a:p>
        </p:txBody>
      </p:sp>
      <p:sp>
        <p:nvSpPr>
          <p:cNvPr id="3" name="Shape 1"/>
          <p:cNvSpPr/>
          <p:nvPr/>
        </p:nvSpPr>
        <p:spPr>
          <a:xfrm>
            <a:off x="0" y="0"/>
            <a:ext cx="164592" cy="5143500"/>
          </a:xfrm>
          <a:prstGeom prst="rect">
            <a:avLst/>
          </a:prstGeom>
          <a:solidFill>
            <a:srgbClr val="D97706"/>
          </a:solidFill>
          <a:ln w="12700">
            <a:solidFill>
              <a:srgbClr val="D97706"/>
            </a:solidFill>
            <a:prstDash val="solid"/>
          </a:ln>
        </p:spPr>
        <p:txBody>
          <a:bodyPr/>
          <a:lstStyle/>
          <a:p>
            <a:endParaRPr lang="en-IN"/>
          </a:p>
        </p:txBody>
      </p:sp>
      <p:sp>
        <p:nvSpPr>
          <p:cNvPr id="4" name="Text 2"/>
          <p:cNvSpPr/>
          <p:nvPr/>
        </p:nvSpPr>
        <p:spPr>
          <a:xfrm>
            <a:off x="347472" y="128016"/>
            <a:ext cx="7315200" cy="420624"/>
          </a:xfrm>
          <a:prstGeom prst="rect">
            <a:avLst/>
          </a:prstGeom>
          <a:noFill/>
          <a:ln/>
        </p:spPr>
        <p:txBody>
          <a:bodyPr wrap="square" lIns="0" tIns="0" rIns="0" bIns="0" rtlCol="0" anchor="ctr"/>
          <a:lstStyle/>
          <a:p>
            <a:pPr marL="0" indent="0" algn="l">
              <a:buNone/>
            </a:pPr>
            <a:r>
              <a:rPr lang="en-US" sz="2600" b="1" dirty="0">
                <a:solidFill>
                  <a:srgbClr val="F8FAFC"/>
                </a:solidFill>
                <a:latin typeface="Georgia" pitchFamily="34" charset="0"/>
                <a:ea typeface="Georgia" pitchFamily="34" charset="-122"/>
                <a:cs typeface="Georgia" pitchFamily="34" charset="-120"/>
              </a:rPr>
              <a:t>Agent Reasoning &amp; Agentic Logic</a:t>
            </a:r>
            <a:endParaRPr lang="en-US" sz="2600" dirty="0"/>
          </a:p>
        </p:txBody>
      </p:sp>
      <p:sp>
        <p:nvSpPr>
          <p:cNvPr id="5" name="Text 3"/>
          <p:cNvSpPr/>
          <p:nvPr/>
        </p:nvSpPr>
        <p:spPr>
          <a:xfrm>
            <a:off x="347472" y="548640"/>
            <a:ext cx="8229600" cy="256032"/>
          </a:xfrm>
          <a:prstGeom prst="rect">
            <a:avLst/>
          </a:prstGeom>
          <a:noFill/>
          <a:ln/>
        </p:spPr>
        <p:txBody>
          <a:bodyPr wrap="square" lIns="0" tIns="0" rIns="0" bIns="0" rtlCol="0" anchor="ctr"/>
          <a:lstStyle/>
          <a:p>
            <a:pPr marL="0" indent="0" algn="l">
              <a:buNone/>
            </a:pPr>
            <a:r>
              <a:rPr lang="en-US" sz="1100" i="1" dirty="0">
                <a:solidFill>
                  <a:srgbClr val="CBD5E1"/>
                </a:solidFill>
                <a:latin typeface="Calibri" pitchFamily="34" charset="0"/>
                <a:ea typeface="Calibri" pitchFamily="34" charset="-122"/>
                <a:cs typeface="Calibri" pitchFamily="34" charset="-120"/>
              </a:rPr>
              <a:t>ReAct (Reasoning + Acting) framework with self-correction and memory-backed replanning</a:t>
            </a:r>
            <a:endParaRPr lang="en-US" sz="1100" dirty="0"/>
          </a:p>
        </p:txBody>
      </p:sp>
      <p:sp>
        <p:nvSpPr>
          <p:cNvPr id="6" name="Shape 4"/>
          <p:cNvSpPr/>
          <p:nvPr/>
        </p:nvSpPr>
        <p:spPr>
          <a:xfrm>
            <a:off x="256032" y="1170432"/>
            <a:ext cx="347472" cy="347472"/>
          </a:xfrm>
          <a:prstGeom prst="ellipse">
            <a:avLst/>
          </a:prstGeom>
          <a:solidFill>
            <a:srgbClr val="2563EB"/>
          </a:solidFill>
          <a:ln w="12700">
            <a:solidFill>
              <a:srgbClr val="2563EB"/>
            </a:solidFill>
            <a:prstDash val="solid"/>
          </a:ln>
        </p:spPr>
        <p:txBody>
          <a:bodyPr/>
          <a:lstStyle/>
          <a:p>
            <a:endParaRPr lang="en-IN"/>
          </a:p>
        </p:txBody>
      </p:sp>
      <p:sp>
        <p:nvSpPr>
          <p:cNvPr id="7" name="Text 5"/>
          <p:cNvSpPr/>
          <p:nvPr/>
        </p:nvSpPr>
        <p:spPr>
          <a:xfrm>
            <a:off x="256032" y="1170432"/>
            <a:ext cx="347472" cy="347472"/>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1</a:t>
            </a:r>
            <a:endParaRPr lang="en-US" sz="1200" dirty="0"/>
          </a:p>
        </p:txBody>
      </p:sp>
      <p:sp>
        <p:nvSpPr>
          <p:cNvPr id="8" name="Text 6"/>
          <p:cNvSpPr/>
          <p:nvPr/>
        </p:nvSpPr>
        <p:spPr>
          <a:xfrm>
            <a:off x="694944" y="1078992"/>
            <a:ext cx="1005840" cy="329184"/>
          </a:xfrm>
          <a:prstGeom prst="rect">
            <a:avLst/>
          </a:prstGeom>
          <a:noFill/>
          <a:ln/>
        </p:spPr>
        <p:txBody>
          <a:bodyPr wrap="square" lIns="0" tIns="0" rIns="0" bIns="0" rtlCol="0" anchor="b"/>
          <a:lstStyle/>
          <a:p>
            <a:pPr marL="0" indent="0" algn="l">
              <a:buNone/>
            </a:pPr>
            <a:r>
              <a:rPr lang="en-US" sz="1300" b="1" dirty="0">
                <a:solidFill>
                  <a:srgbClr val="2563EB"/>
                </a:solidFill>
                <a:latin typeface="Georgia" pitchFamily="34" charset="0"/>
                <a:ea typeface="Georgia" pitchFamily="34" charset="-122"/>
                <a:cs typeface="Georgia" pitchFamily="34" charset="-120"/>
              </a:rPr>
              <a:t>PLAN</a:t>
            </a:r>
            <a:endParaRPr lang="en-US" sz="1300" dirty="0"/>
          </a:p>
        </p:txBody>
      </p:sp>
      <p:sp>
        <p:nvSpPr>
          <p:cNvPr id="9" name="Text 7"/>
          <p:cNvSpPr/>
          <p:nvPr/>
        </p:nvSpPr>
        <p:spPr>
          <a:xfrm>
            <a:off x="694944" y="1408176"/>
            <a:ext cx="3712464" cy="402336"/>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Query ChromaDB for prior attempts on this target type. Decompose into sub-goals. Select highest-confidence attack vector. Build a hypothesis.</a:t>
            </a:r>
            <a:endParaRPr lang="en-US" sz="950" dirty="0"/>
          </a:p>
        </p:txBody>
      </p:sp>
      <p:sp>
        <p:nvSpPr>
          <p:cNvPr id="10" name="Shape 8"/>
          <p:cNvSpPr/>
          <p:nvPr/>
        </p:nvSpPr>
        <p:spPr>
          <a:xfrm>
            <a:off x="429768" y="1536192"/>
            <a:ext cx="0" cy="310896"/>
          </a:xfrm>
          <a:prstGeom prst="line">
            <a:avLst/>
          </a:prstGeom>
          <a:noFill/>
          <a:ln w="9525">
            <a:solidFill>
              <a:srgbClr val="CBD5E1"/>
            </a:solidFill>
            <a:prstDash val="dash"/>
          </a:ln>
        </p:spPr>
        <p:txBody>
          <a:bodyPr/>
          <a:lstStyle/>
          <a:p>
            <a:endParaRPr lang="en-IN"/>
          </a:p>
        </p:txBody>
      </p:sp>
      <p:sp>
        <p:nvSpPr>
          <p:cNvPr id="11" name="Shape 9"/>
          <p:cNvSpPr/>
          <p:nvPr/>
        </p:nvSpPr>
        <p:spPr>
          <a:xfrm>
            <a:off x="256032" y="1938528"/>
            <a:ext cx="347472" cy="347472"/>
          </a:xfrm>
          <a:prstGeom prst="ellipse">
            <a:avLst/>
          </a:prstGeom>
          <a:solidFill>
            <a:srgbClr val="F59E0B"/>
          </a:solidFill>
          <a:ln w="12700">
            <a:solidFill>
              <a:srgbClr val="F59E0B"/>
            </a:solidFill>
            <a:prstDash val="solid"/>
          </a:ln>
        </p:spPr>
        <p:txBody>
          <a:bodyPr/>
          <a:lstStyle/>
          <a:p>
            <a:endParaRPr lang="en-IN"/>
          </a:p>
        </p:txBody>
      </p:sp>
      <p:sp>
        <p:nvSpPr>
          <p:cNvPr id="12" name="Text 10"/>
          <p:cNvSpPr/>
          <p:nvPr/>
        </p:nvSpPr>
        <p:spPr>
          <a:xfrm>
            <a:off x="256032" y="1938528"/>
            <a:ext cx="347472" cy="347472"/>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2</a:t>
            </a:r>
            <a:endParaRPr lang="en-US" sz="1200" dirty="0"/>
          </a:p>
        </p:txBody>
      </p:sp>
      <p:sp>
        <p:nvSpPr>
          <p:cNvPr id="13" name="Text 11"/>
          <p:cNvSpPr/>
          <p:nvPr/>
        </p:nvSpPr>
        <p:spPr>
          <a:xfrm>
            <a:off x="694944" y="1847088"/>
            <a:ext cx="1005840" cy="329184"/>
          </a:xfrm>
          <a:prstGeom prst="rect">
            <a:avLst/>
          </a:prstGeom>
          <a:noFill/>
          <a:ln/>
        </p:spPr>
        <p:txBody>
          <a:bodyPr wrap="square" lIns="0" tIns="0" rIns="0" bIns="0" rtlCol="0" anchor="b"/>
          <a:lstStyle/>
          <a:p>
            <a:pPr marL="0" indent="0" algn="l">
              <a:buNone/>
            </a:pPr>
            <a:r>
              <a:rPr lang="en-US" sz="1300" b="1" dirty="0">
                <a:solidFill>
                  <a:srgbClr val="F59E0B"/>
                </a:solidFill>
                <a:latin typeface="Georgia" pitchFamily="34" charset="0"/>
                <a:ea typeface="Georgia" pitchFamily="34" charset="-122"/>
                <a:cs typeface="Georgia" pitchFamily="34" charset="-120"/>
              </a:rPr>
              <a:t>ACT</a:t>
            </a:r>
            <a:endParaRPr lang="en-US" sz="1300" dirty="0"/>
          </a:p>
        </p:txBody>
      </p:sp>
      <p:sp>
        <p:nvSpPr>
          <p:cNvPr id="14" name="Text 12"/>
          <p:cNvSpPr/>
          <p:nvPr/>
        </p:nvSpPr>
        <p:spPr>
          <a:xfrm>
            <a:off x="694944" y="2176272"/>
            <a:ext cx="3712464" cy="402336"/>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Invoke the single most appropriate tool for the current hypothesis. Pass only structured arguments — never freeform text.</a:t>
            </a:r>
            <a:endParaRPr lang="en-US" sz="950" dirty="0"/>
          </a:p>
        </p:txBody>
      </p:sp>
      <p:sp>
        <p:nvSpPr>
          <p:cNvPr id="15" name="Shape 13"/>
          <p:cNvSpPr/>
          <p:nvPr/>
        </p:nvSpPr>
        <p:spPr>
          <a:xfrm>
            <a:off x="429768" y="2304288"/>
            <a:ext cx="0" cy="310896"/>
          </a:xfrm>
          <a:prstGeom prst="line">
            <a:avLst/>
          </a:prstGeom>
          <a:noFill/>
          <a:ln w="9525">
            <a:solidFill>
              <a:srgbClr val="CBD5E1"/>
            </a:solidFill>
            <a:prstDash val="dash"/>
          </a:ln>
        </p:spPr>
        <p:txBody>
          <a:bodyPr/>
          <a:lstStyle/>
          <a:p>
            <a:endParaRPr lang="en-IN"/>
          </a:p>
        </p:txBody>
      </p:sp>
      <p:sp>
        <p:nvSpPr>
          <p:cNvPr id="16" name="Shape 14"/>
          <p:cNvSpPr/>
          <p:nvPr/>
        </p:nvSpPr>
        <p:spPr>
          <a:xfrm>
            <a:off x="256032" y="2706624"/>
            <a:ext cx="347472" cy="347472"/>
          </a:xfrm>
          <a:prstGeom prst="ellipse">
            <a:avLst/>
          </a:prstGeom>
          <a:solidFill>
            <a:srgbClr val="10B981"/>
          </a:solidFill>
          <a:ln w="12700">
            <a:solidFill>
              <a:srgbClr val="10B981"/>
            </a:solidFill>
            <a:prstDash val="solid"/>
          </a:ln>
        </p:spPr>
        <p:txBody>
          <a:bodyPr/>
          <a:lstStyle/>
          <a:p>
            <a:endParaRPr lang="en-IN"/>
          </a:p>
        </p:txBody>
      </p:sp>
      <p:sp>
        <p:nvSpPr>
          <p:cNvPr id="17" name="Text 15"/>
          <p:cNvSpPr/>
          <p:nvPr/>
        </p:nvSpPr>
        <p:spPr>
          <a:xfrm>
            <a:off x="256032" y="2706624"/>
            <a:ext cx="347472" cy="347472"/>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3</a:t>
            </a:r>
            <a:endParaRPr lang="en-US" sz="1200" dirty="0"/>
          </a:p>
        </p:txBody>
      </p:sp>
      <p:sp>
        <p:nvSpPr>
          <p:cNvPr id="18" name="Text 16"/>
          <p:cNvSpPr/>
          <p:nvPr/>
        </p:nvSpPr>
        <p:spPr>
          <a:xfrm>
            <a:off x="694944" y="2615184"/>
            <a:ext cx="1005840" cy="329184"/>
          </a:xfrm>
          <a:prstGeom prst="rect">
            <a:avLst/>
          </a:prstGeom>
          <a:noFill/>
          <a:ln/>
        </p:spPr>
        <p:txBody>
          <a:bodyPr wrap="square" lIns="0" tIns="0" rIns="0" bIns="0" rtlCol="0" anchor="b"/>
          <a:lstStyle/>
          <a:p>
            <a:pPr marL="0" indent="0" algn="l">
              <a:buNone/>
            </a:pPr>
            <a:r>
              <a:rPr lang="en-US" sz="1300" b="1" dirty="0">
                <a:solidFill>
                  <a:srgbClr val="10B981"/>
                </a:solidFill>
                <a:latin typeface="Georgia" pitchFamily="34" charset="0"/>
                <a:ea typeface="Georgia" pitchFamily="34" charset="-122"/>
                <a:cs typeface="Georgia" pitchFamily="34" charset="-120"/>
              </a:rPr>
              <a:t>OBSERVE</a:t>
            </a:r>
            <a:endParaRPr lang="en-US" sz="1300" dirty="0"/>
          </a:p>
        </p:txBody>
      </p:sp>
      <p:sp>
        <p:nvSpPr>
          <p:cNvPr id="19" name="Text 17"/>
          <p:cNvSpPr/>
          <p:nvPr/>
        </p:nvSpPr>
        <p:spPr>
          <a:xfrm>
            <a:off x="694944" y="2944368"/>
            <a:ext cx="3712464" cy="402336"/>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Parse tool output into structured fields. Update the internal target model. Log findings to ChromaDB for future queries.</a:t>
            </a:r>
            <a:endParaRPr lang="en-US" sz="950" dirty="0"/>
          </a:p>
        </p:txBody>
      </p:sp>
      <p:sp>
        <p:nvSpPr>
          <p:cNvPr id="20" name="Shape 18"/>
          <p:cNvSpPr/>
          <p:nvPr/>
        </p:nvSpPr>
        <p:spPr>
          <a:xfrm>
            <a:off x="429768" y="3072384"/>
            <a:ext cx="0" cy="310896"/>
          </a:xfrm>
          <a:prstGeom prst="line">
            <a:avLst/>
          </a:prstGeom>
          <a:noFill/>
          <a:ln w="9525">
            <a:solidFill>
              <a:srgbClr val="CBD5E1"/>
            </a:solidFill>
            <a:prstDash val="dash"/>
          </a:ln>
        </p:spPr>
        <p:txBody>
          <a:bodyPr/>
          <a:lstStyle/>
          <a:p>
            <a:endParaRPr lang="en-IN"/>
          </a:p>
        </p:txBody>
      </p:sp>
      <p:sp>
        <p:nvSpPr>
          <p:cNvPr id="21" name="Shape 19"/>
          <p:cNvSpPr/>
          <p:nvPr/>
        </p:nvSpPr>
        <p:spPr>
          <a:xfrm>
            <a:off x="256032" y="3474720"/>
            <a:ext cx="347472" cy="347472"/>
          </a:xfrm>
          <a:prstGeom prst="ellipse">
            <a:avLst/>
          </a:prstGeom>
          <a:solidFill>
            <a:srgbClr val="8B5CF6"/>
          </a:solidFill>
          <a:ln w="12700">
            <a:solidFill>
              <a:srgbClr val="8B5CF6"/>
            </a:solidFill>
            <a:prstDash val="solid"/>
          </a:ln>
        </p:spPr>
        <p:txBody>
          <a:bodyPr/>
          <a:lstStyle/>
          <a:p>
            <a:endParaRPr lang="en-IN"/>
          </a:p>
        </p:txBody>
      </p:sp>
      <p:sp>
        <p:nvSpPr>
          <p:cNvPr id="22" name="Text 20"/>
          <p:cNvSpPr/>
          <p:nvPr/>
        </p:nvSpPr>
        <p:spPr>
          <a:xfrm>
            <a:off x="256032" y="3474720"/>
            <a:ext cx="347472" cy="347472"/>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4</a:t>
            </a:r>
            <a:endParaRPr lang="en-US" sz="1200" dirty="0"/>
          </a:p>
        </p:txBody>
      </p:sp>
      <p:sp>
        <p:nvSpPr>
          <p:cNvPr id="23" name="Text 21"/>
          <p:cNvSpPr/>
          <p:nvPr/>
        </p:nvSpPr>
        <p:spPr>
          <a:xfrm>
            <a:off x="694944" y="3383280"/>
            <a:ext cx="1005840" cy="329184"/>
          </a:xfrm>
          <a:prstGeom prst="rect">
            <a:avLst/>
          </a:prstGeom>
          <a:noFill/>
          <a:ln/>
        </p:spPr>
        <p:txBody>
          <a:bodyPr wrap="square" lIns="0" tIns="0" rIns="0" bIns="0" rtlCol="0" anchor="b"/>
          <a:lstStyle/>
          <a:p>
            <a:pPr marL="0" indent="0" algn="l">
              <a:buNone/>
            </a:pPr>
            <a:r>
              <a:rPr lang="en-US" sz="1300" b="1" dirty="0">
                <a:solidFill>
                  <a:srgbClr val="8B5CF6"/>
                </a:solidFill>
                <a:latin typeface="Georgia" pitchFamily="34" charset="0"/>
                <a:ea typeface="Georgia" pitchFamily="34" charset="-122"/>
                <a:cs typeface="Georgia" pitchFamily="34" charset="-120"/>
              </a:rPr>
              <a:t>REFLECT</a:t>
            </a:r>
            <a:endParaRPr lang="en-US" sz="1300" dirty="0"/>
          </a:p>
        </p:txBody>
      </p:sp>
      <p:sp>
        <p:nvSpPr>
          <p:cNvPr id="24" name="Text 22"/>
          <p:cNvSpPr/>
          <p:nvPr/>
        </p:nvSpPr>
        <p:spPr>
          <a:xfrm>
            <a:off x="694944" y="3712464"/>
            <a:ext cx="3712464" cy="402336"/>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Score confidence: did this confirm, partially confirm, or refute the hypothesis? If refuted — tag it FAILED in memory. Never repeat.</a:t>
            </a:r>
            <a:endParaRPr lang="en-US" sz="950" dirty="0"/>
          </a:p>
        </p:txBody>
      </p:sp>
      <p:sp>
        <p:nvSpPr>
          <p:cNvPr id="25" name="Shape 23"/>
          <p:cNvSpPr/>
          <p:nvPr/>
        </p:nvSpPr>
        <p:spPr>
          <a:xfrm>
            <a:off x="429768" y="3840480"/>
            <a:ext cx="0" cy="310896"/>
          </a:xfrm>
          <a:prstGeom prst="line">
            <a:avLst/>
          </a:prstGeom>
          <a:noFill/>
          <a:ln w="9525">
            <a:solidFill>
              <a:srgbClr val="CBD5E1"/>
            </a:solidFill>
            <a:prstDash val="dash"/>
          </a:ln>
        </p:spPr>
        <p:txBody>
          <a:bodyPr/>
          <a:lstStyle/>
          <a:p>
            <a:endParaRPr lang="en-IN"/>
          </a:p>
        </p:txBody>
      </p:sp>
      <p:sp>
        <p:nvSpPr>
          <p:cNvPr id="26" name="Shape 24"/>
          <p:cNvSpPr/>
          <p:nvPr/>
        </p:nvSpPr>
        <p:spPr>
          <a:xfrm>
            <a:off x="256032" y="4242816"/>
            <a:ext cx="347472" cy="347472"/>
          </a:xfrm>
          <a:prstGeom prst="ellipse">
            <a:avLst/>
          </a:prstGeom>
          <a:solidFill>
            <a:srgbClr val="DC2626"/>
          </a:solidFill>
          <a:ln w="12700">
            <a:solidFill>
              <a:srgbClr val="DC2626"/>
            </a:solidFill>
            <a:prstDash val="solid"/>
          </a:ln>
        </p:spPr>
        <p:txBody>
          <a:bodyPr/>
          <a:lstStyle/>
          <a:p>
            <a:endParaRPr lang="en-IN"/>
          </a:p>
        </p:txBody>
      </p:sp>
      <p:sp>
        <p:nvSpPr>
          <p:cNvPr id="27" name="Text 25"/>
          <p:cNvSpPr/>
          <p:nvPr/>
        </p:nvSpPr>
        <p:spPr>
          <a:xfrm>
            <a:off x="256032" y="4242816"/>
            <a:ext cx="347472" cy="347472"/>
          </a:xfrm>
          <a:prstGeom prst="rect">
            <a:avLst/>
          </a:prstGeom>
          <a:noFill/>
          <a:ln/>
        </p:spPr>
        <p:txBody>
          <a:bodyPr wrap="square" lIns="0" tIns="0" rIns="0" bIns="0" rtlCol="0" anchor="ctr"/>
          <a:lstStyle/>
          <a:p>
            <a:pPr marL="0" indent="0" algn="ctr">
              <a:buNone/>
            </a:pPr>
            <a:r>
              <a:rPr lang="en-US" sz="1200" b="1" dirty="0">
                <a:solidFill>
                  <a:srgbClr val="F8FAFC"/>
                </a:solidFill>
                <a:latin typeface="Georgia" pitchFamily="34" charset="0"/>
                <a:ea typeface="Georgia" pitchFamily="34" charset="-122"/>
                <a:cs typeface="Georgia" pitchFamily="34" charset="-120"/>
              </a:rPr>
              <a:t>5</a:t>
            </a:r>
            <a:endParaRPr lang="en-US" sz="1200" dirty="0"/>
          </a:p>
        </p:txBody>
      </p:sp>
      <p:sp>
        <p:nvSpPr>
          <p:cNvPr id="28" name="Text 26"/>
          <p:cNvSpPr/>
          <p:nvPr/>
        </p:nvSpPr>
        <p:spPr>
          <a:xfrm>
            <a:off x="694944" y="4151376"/>
            <a:ext cx="1005840" cy="329184"/>
          </a:xfrm>
          <a:prstGeom prst="rect">
            <a:avLst/>
          </a:prstGeom>
          <a:noFill/>
          <a:ln/>
        </p:spPr>
        <p:txBody>
          <a:bodyPr wrap="square" lIns="0" tIns="0" rIns="0" bIns="0" rtlCol="0" anchor="b"/>
          <a:lstStyle/>
          <a:p>
            <a:pPr marL="0" indent="0" algn="l">
              <a:buNone/>
            </a:pPr>
            <a:r>
              <a:rPr lang="en-US" sz="1300" b="1" dirty="0">
                <a:solidFill>
                  <a:srgbClr val="DC2626"/>
                </a:solidFill>
                <a:latin typeface="Georgia" pitchFamily="34" charset="0"/>
                <a:ea typeface="Georgia" pitchFamily="34" charset="-122"/>
                <a:cs typeface="Georgia" pitchFamily="34" charset="-120"/>
              </a:rPr>
              <a:t>REPLAN</a:t>
            </a:r>
            <a:endParaRPr lang="en-US" sz="1300" dirty="0"/>
          </a:p>
        </p:txBody>
      </p:sp>
      <p:sp>
        <p:nvSpPr>
          <p:cNvPr id="29" name="Text 27"/>
          <p:cNvSpPr/>
          <p:nvPr/>
        </p:nvSpPr>
        <p:spPr>
          <a:xfrm>
            <a:off x="694944" y="4480560"/>
            <a:ext cx="3712464" cy="402336"/>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Generate a new hypothesis from remaining attack surface. Exclude all FAILED vectors. If no viable vector remains, escalate to human review.</a:t>
            </a:r>
            <a:endParaRPr lang="en-US" sz="950" dirty="0"/>
          </a:p>
        </p:txBody>
      </p:sp>
      <p:sp>
        <p:nvSpPr>
          <p:cNvPr id="30" name="Shape 28"/>
          <p:cNvSpPr/>
          <p:nvPr/>
        </p:nvSpPr>
        <p:spPr>
          <a:xfrm>
            <a:off x="4663440" y="1042416"/>
            <a:ext cx="4206240" cy="3840480"/>
          </a:xfrm>
          <a:prstGeom prst="rect">
            <a:avLst/>
          </a:prstGeom>
          <a:solidFill>
            <a:srgbClr val="0B1120"/>
          </a:solidFill>
          <a:ln w="6350">
            <a:solidFill>
              <a:srgbClr val="334155"/>
            </a:solidFill>
            <a:prstDash val="solid"/>
          </a:ln>
        </p:spPr>
        <p:txBody>
          <a:bodyPr/>
          <a:lstStyle/>
          <a:p>
            <a:endParaRPr lang="en-IN"/>
          </a:p>
        </p:txBody>
      </p:sp>
      <p:sp>
        <p:nvSpPr>
          <p:cNvPr id="31" name="Shape 29"/>
          <p:cNvSpPr/>
          <p:nvPr/>
        </p:nvSpPr>
        <p:spPr>
          <a:xfrm>
            <a:off x="4663440" y="1042416"/>
            <a:ext cx="4206240" cy="64008"/>
          </a:xfrm>
          <a:prstGeom prst="rect">
            <a:avLst/>
          </a:prstGeom>
          <a:solidFill>
            <a:srgbClr val="D97706"/>
          </a:solidFill>
          <a:ln w="12700">
            <a:solidFill>
              <a:srgbClr val="D97706"/>
            </a:solidFill>
            <a:prstDash val="solid"/>
          </a:ln>
        </p:spPr>
        <p:txBody>
          <a:bodyPr/>
          <a:lstStyle/>
          <a:p>
            <a:endParaRPr lang="en-IN"/>
          </a:p>
        </p:txBody>
      </p:sp>
      <p:sp>
        <p:nvSpPr>
          <p:cNvPr id="32" name="Text 30"/>
          <p:cNvSpPr/>
          <p:nvPr/>
        </p:nvSpPr>
        <p:spPr>
          <a:xfrm>
            <a:off x="4754880" y="1115568"/>
            <a:ext cx="4023360" cy="274320"/>
          </a:xfrm>
          <a:prstGeom prst="rect">
            <a:avLst/>
          </a:prstGeom>
          <a:noFill/>
          <a:ln/>
        </p:spPr>
        <p:txBody>
          <a:bodyPr wrap="square" lIns="0" tIns="0" rIns="0" bIns="0" rtlCol="0" anchor="ctr"/>
          <a:lstStyle/>
          <a:p>
            <a:pPr marL="0" indent="0" algn="l">
              <a:buNone/>
            </a:pPr>
            <a:r>
              <a:rPr lang="en-US" sz="950" b="1" dirty="0">
                <a:solidFill>
                  <a:srgbClr val="CBD5E1"/>
                </a:solidFill>
                <a:latin typeface="Georgia" pitchFamily="34" charset="0"/>
                <a:ea typeface="Georgia" pitchFamily="34" charset="-122"/>
                <a:cs typeface="Georgia" pitchFamily="34" charset="-120"/>
              </a:rPr>
              <a:t>Sample Reasoning Trace — SSTI Discovery</a:t>
            </a:r>
            <a:endParaRPr lang="en-US" sz="950" dirty="0"/>
          </a:p>
        </p:txBody>
      </p:sp>
      <p:sp>
        <p:nvSpPr>
          <p:cNvPr id="33" name="Shape 31"/>
          <p:cNvSpPr/>
          <p:nvPr/>
        </p:nvSpPr>
        <p:spPr>
          <a:xfrm>
            <a:off x="4754880" y="1408176"/>
            <a:ext cx="3931920" cy="0"/>
          </a:xfrm>
          <a:prstGeom prst="line">
            <a:avLst/>
          </a:prstGeom>
          <a:noFill/>
          <a:ln w="6350">
            <a:solidFill>
              <a:srgbClr val="334155"/>
            </a:solidFill>
            <a:prstDash val="solid"/>
          </a:ln>
        </p:spPr>
        <p:txBody>
          <a:bodyPr/>
          <a:lstStyle/>
          <a:p>
            <a:endParaRPr lang="en-IN"/>
          </a:p>
        </p:txBody>
      </p:sp>
      <p:sp>
        <p:nvSpPr>
          <p:cNvPr id="34" name="Shape 32"/>
          <p:cNvSpPr/>
          <p:nvPr/>
        </p:nvSpPr>
        <p:spPr>
          <a:xfrm>
            <a:off x="4736592" y="1481328"/>
            <a:ext cx="640080" cy="146304"/>
          </a:xfrm>
          <a:prstGeom prst="rect">
            <a:avLst/>
          </a:prstGeom>
          <a:solidFill>
            <a:srgbClr val="3B82F6">
              <a:alpha val="25000"/>
            </a:srgbClr>
          </a:solidFill>
          <a:ln w="5080">
            <a:solidFill>
              <a:srgbClr val="3B82F6"/>
            </a:solidFill>
            <a:prstDash val="solid"/>
          </a:ln>
        </p:spPr>
        <p:txBody>
          <a:bodyPr/>
          <a:lstStyle/>
          <a:p>
            <a:endParaRPr lang="en-IN"/>
          </a:p>
        </p:txBody>
      </p:sp>
      <p:sp>
        <p:nvSpPr>
          <p:cNvPr id="35" name="Text 33"/>
          <p:cNvSpPr/>
          <p:nvPr/>
        </p:nvSpPr>
        <p:spPr>
          <a:xfrm>
            <a:off x="4736592" y="1481328"/>
            <a:ext cx="640080" cy="146304"/>
          </a:xfrm>
          <a:prstGeom prst="rect">
            <a:avLst/>
          </a:prstGeom>
          <a:noFill/>
          <a:ln/>
        </p:spPr>
        <p:txBody>
          <a:bodyPr wrap="square" lIns="0" tIns="0" rIns="0" bIns="0" rtlCol="0" anchor="ctr"/>
          <a:lstStyle/>
          <a:p>
            <a:pPr marL="0" indent="0" algn="ctr">
              <a:buNone/>
            </a:pPr>
            <a:r>
              <a:rPr lang="en-US" sz="650" b="1" dirty="0">
                <a:solidFill>
                  <a:srgbClr val="3B82F6"/>
                </a:solidFill>
                <a:latin typeface="Calibri" pitchFamily="34" charset="0"/>
                <a:ea typeface="Calibri" pitchFamily="34" charset="-122"/>
                <a:cs typeface="Calibri" pitchFamily="34" charset="-120"/>
              </a:rPr>
              <a:t>PLAN</a:t>
            </a:r>
            <a:endParaRPr lang="en-US" sz="650" dirty="0"/>
          </a:p>
        </p:txBody>
      </p:sp>
      <p:sp>
        <p:nvSpPr>
          <p:cNvPr id="36" name="Text 34"/>
          <p:cNvSpPr/>
          <p:nvPr/>
        </p:nvSpPr>
        <p:spPr>
          <a:xfrm>
            <a:off x="5449824" y="14721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Query memory: no prior attempts on this Flask app.</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Hypothesis: check for injection vulnerabilities on</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/api/login and template rendering paths.</a:t>
            </a:r>
            <a:endParaRPr lang="en-US" sz="850" dirty="0"/>
          </a:p>
        </p:txBody>
      </p:sp>
      <p:sp>
        <p:nvSpPr>
          <p:cNvPr id="37" name="Shape 35"/>
          <p:cNvSpPr/>
          <p:nvPr/>
        </p:nvSpPr>
        <p:spPr>
          <a:xfrm>
            <a:off x="4736592" y="1938528"/>
            <a:ext cx="640080" cy="146304"/>
          </a:xfrm>
          <a:prstGeom prst="rect">
            <a:avLst/>
          </a:prstGeom>
          <a:solidFill>
            <a:srgbClr val="F59E0B">
              <a:alpha val="25000"/>
            </a:srgbClr>
          </a:solidFill>
          <a:ln w="5080">
            <a:solidFill>
              <a:srgbClr val="F59E0B"/>
            </a:solidFill>
            <a:prstDash val="solid"/>
          </a:ln>
        </p:spPr>
        <p:txBody>
          <a:bodyPr/>
          <a:lstStyle/>
          <a:p>
            <a:endParaRPr lang="en-IN"/>
          </a:p>
        </p:txBody>
      </p:sp>
      <p:sp>
        <p:nvSpPr>
          <p:cNvPr id="38" name="Text 36"/>
          <p:cNvSpPr/>
          <p:nvPr/>
        </p:nvSpPr>
        <p:spPr>
          <a:xfrm>
            <a:off x="4736592" y="1938528"/>
            <a:ext cx="640080" cy="146304"/>
          </a:xfrm>
          <a:prstGeom prst="rect">
            <a:avLst/>
          </a:prstGeom>
          <a:noFill/>
          <a:ln/>
        </p:spPr>
        <p:txBody>
          <a:bodyPr wrap="square" lIns="0" tIns="0" rIns="0" bIns="0" rtlCol="0" anchor="ctr"/>
          <a:lstStyle/>
          <a:p>
            <a:pPr marL="0" indent="0" algn="ctr">
              <a:buNone/>
            </a:pPr>
            <a:r>
              <a:rPr lang="en-US" sz="650" b="1" dirty="0">
                <a:solidFill>
                  <a:srgbClr val="F59E0B"/>
                </a:solidFill>
                <a:latin typeface="Calibri" pitchFamily="34" charset="0"/>
                <a:ea typeface="Calibri" pitchFamily="34" charset="-122"/>
                <a:cs typeface="Calibri" pitchFamily="34" charset="-120"/>
              </a:rPr>
              <a:t>ACT</a:t>
            </a:r>
            <a:endParaRPr lang="en-US" sz="650" dirty="0"/>
          </a:p>
        </p:txBody>
      </p:sp>
      <p:sp>
        <p:nvSpPr>
          <p:cNvPr id="39" name="Text 37"/>
          <p:cNvSpPr/>
          <p:nvPr/>
        </p:nvSpPr>
        <p:spPr>
          <a:xfrm>
            <a:off x="5449824" y="19293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Tool: nmap → ports 80, 443, 5432 open.</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Service: PostgreSQL 14.2 on 5432.</a:t>
            </a:r>
            <a:endParaRPr lang="en-US" sz="850" dirty="0"/>
          </a:p>
        </p:txBody>
      </p:sp>
      <p:sp>
        <p:nvSpPr>
          <p:cNvPr id="40" name="Shape 38"/>
          <p:cNvSpPr/>
          <p:nvPr/>
        </p:nvSpPr>
        <p:spPr>
          <a:xfrm>
            <a:off x="4736592" y="2395728"/>
            <a:ext cx="640080" cy="146304"/>
          </a:xfrm>
          <a:prstGeom prst="rect">
            <a:avLst/>
          </a:prstGeom>
          <a:solidFill>
            <a:srgbClr val="F59E0B">
              <a:alpha val="25000"/>
            </a:srgbClr>
          </a:solidFill>
          <a:ln w="5080">
            <a:solidFill>
              <a:srgbClr val="F59E0B"/>
            </a:solidFill>
            <a:prstDash val="solid"/>
          </a:ln>
        </p:spPr>
        <p:txBody>
          <a:bodyPr/>
          <a:lstStyle/>
          <a:p>
            <a:endParaRPr lang="en-IN"/>
          </a:p>
        </p:txBody>
      </p:sp>
      <p:sp>
        <p:nvSpPr>
          <p:cNvPr id="41" name="Text 39"/>
          <p:cNvSpPr/>
          <p:nvPr/>
        </p:nvSpPr>
        <p:spPr>
          <a:xfrm>
            <a:off x="4736592" y="2395728"/>
            <a:ext cx="640080" cy="146304"/>
          </a:xfrm>
          <a:prstGeom prst="rect">
            <a:avLst/>
          </a:prstGeom>
          <a:noFill/>
          <a:ln/>
        </p:spPr>
        <p:txBody>
          <a:bodyPr wrap="square" lIns="0" tIns="0" rIns="0" bIns="0" rtlCol="0" anchor="ctr"/>
          <a:lstStyle/>
          <a:p>
            <a:pPr marL="0" indent="0" algn="ctr">
              <a:buNone/>
            </a:pPr>
            <a:r>
              <a:rPr lang="en-US" sz="650" b="1" dirty="0">
                <a:solidFill>
                  <a:srgbClr val="F59E0B"/>
                </a:solidFill>
                <a:latin typeface="Calibri" pitchFamily="34" charset="0"/>
                <a:ea typeface="Calibri" pitchFamily="34" charset="-122"/>
                <a:cs typeface="Calibri" pitchFamily="34" charset="-120"/>
              </a:rPr>
              <a:t>ACT</a:t>
            </a:r>
            <a:endParaRPr lang="en-US" sz="650" dirty="0"/>
          </a:p>
        </p:txBody>
      </p:sp>
      <p:sp>
        <p:nvSpPr>
          <p:cNvPr id="42" name="Text 40"/>
          <p:cNvSpPr/>
          <p:nvPr/>
        </p:nvSpPr>
        <p:spPr>
          <a:xfrm>
            <a:off x="5449824" y="23865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Tool: Semgrep [python.flask.injection rules]</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on /src/views.py</a:t>
            </a:r>
            <a:endParaRPr lang="en-US" sz="850" dirty="0"/>
          </a:p>
        </p:txBody>
      </p:sp>
      <p:sp>
        <p:nvSpPr>
          <p:cNvPr id="43" name="Shape 41"/>
          <p:cNvSpPr/>
          <p:nvPr/>
        </p:nvSpPr>
        <p:spPr>
          <a:xfrm>
            <a:off x="4736592" y="2852928"/>
            <a:ext cx="640080" cy="146304"/>
          </a:xfrm>
          <a:prstGeom prst="rect">
            <a:avLst/>
          </a:prstGeom>
          <a:solidFill>
            <a:srgbClr val="10B981">
              <a:alpha val="25000"/>
            </a:srgbClr>
          </a:solidFill>
          <a:ln w="5080">
            <a:solidFill>
              <a:srgbClr val="10B981"/>
            </a:solidFill>
            <a:prstDash val="solid"/>
          </a:ln>
        </p:spPr>
        <p:txBody>
          <a:bodyPr/>
          <a:lstStyle/>
          <a:p>
            <a:endParaRPr lang="en-IN"/>
          </a:p>
        </p:txBody>
      </p:sp>
      <p:sp>
        <p:nvSpPr>
          <p:cNvPr id="44" name="Text 42"/>
          <p:cNvSpPr/>
          <p:nvPr/>
        </p:nvSpPr>
        <p:spPr>
          <a:xfrm>
            <a:off x="4736592" y="2852928"/>
            <a:ext cx="640080" cy="146304"/>
          </a:xfrm>
          <a:prstGeom prst="rect">
            <a:avLst/>
          </a:prstGeom>
          <a:noFill/>
          <a:ln/>
        </p:spPr>
        <p:txBody>
          <a:bodyPr wrap="square" lIns="0" tIns="0" rIns="0" bIns="0" rtlCol="0" anchor="ctr"/>
          <a:lstStyle/>
          <a:p>
            <a:pPr marL="0" indent="0" algn="ctr">
              <a:buNone/>
            </a:pPr>
            <a:r>
              <a:rPr lang="en-US" sz="650" b="1" dirty="0">
                <a:solidFill>
                  <a:srgbClr val="10B981"/>
                </a:solidFill>
                <a:latin typeface="Calibri" pitchFamily="34" charset="0"/>
                <a:ea typeface="Calibri" pitchFamily="34" charset="-122"/>
                <a:cs typeface="Calibri" pitchFamily="34" charset="-120"/>
              </a:rPr>
              <a:t>OBSERVE</a:t>
            </a:r>
            <a:endParaRPr lang="en-US" sz="650" dirty="0"/>
          </a:p>
        </p:txBody>
      </p:sp>
      <p:sp>
        <p:nvSpPr>
          <p:cNvPr id="45" name="Text 43"/>
          <p:cNvSpPr/>
          <p:nvPr/>
        </p:nvSpPr>
        <p:spPr>
          <a:xfrm>
            <a:off x="5449824" y="28437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Match: render_template(user_input) — line 47.</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Unsafe eval() pattern confirmed.</a:t>
            </a:r>
            <a:endParaRPr lang="en-US" sz="850" dirty="0"/>
          </a:p>
        </p:txBody>
      </p:sp>
      <p:sp>
        <p:nvSpPr>
          <p:cNvPr id="46" name="Shape 44"/>
          <p:cNvSpPr/>
          <p:nvPr/>
        </p:nvSpPr>
        <p:spPr>
          <a:xfrm>
            <a:off x="4736592" y="3310128"/>
            <a:ext cx="640080" cy="146304"/>
          </a:xfrm>
          <a:prstGeom prst="rect">
            <a:avLst/>
          </a:prstGeom>
          <a:solidFill>
            <a:srgbClr val="8B5CF6">
              <a:alpha val="25000"/>
            </a:srgbClr>
          </a:solidFill>
          <a:ln w="5080">
            <a:solidFill>
              <a:srgbClr val="8B5CF6"/>
            </a:solidFill>
            <a:prstDash val="solid"/>
          </a:ln>
        </p:spPr>
        <p:txBody>
          <a:bodyPr/>
          <a:lstStyle/>
          <a:p>
            <a:endParaRPr lang="en-IN"/>
          </a:p>
        </p:txBody>
      </p:sp>
      <p:sp>
        <p:nvSpPr>
          <p:cNvPr id="47" name="Text 45"/>
          <p:cNvSpPr/>
          <p:nvPr/>
        </p:nvSpPr>
        <p:spPr>
          <a:xfrm>
            <a:off x="4736592" y="3310128"/>
            <a:ext cx="640080" cy="146304"/>
          </a:xfrm>
          <a:prstGeom prst="rect">
            <a:avLst/>
          </a:prstGeom>
          <a:noFill/>
          <a:ln/>
        </p:spPr>
        <p:txBody>
          <a:bodyPr wrap="square" lIns="0" tIns="0" rIns="0" bIns="0" rtlCol="0" anchor="ctr"/>
          <a:lstStyle/>
          <a:p>
            <a:pPr marL="0" indent="0" algn="ctr">
              <a:buNone/>
            </a:pPr>
            <a:r>
              <a:rPr lang="en-US" sz="650" b="1" dirty="0">
                <a:solidFill>
                  <a:srgbClr val="8B5CF6"/>
                </a:solidFill>
                <a:latin typeface="Calibri" pitchFamily="34" charset="0"/>
                <a:ea typeface="Calibri" pitchFamily="34" charset="-122"/>
                <a:cs typeface="Calibri" pitchFamily="34" charset="-120"/>
              </a:rPr>
              <a:t>REFLECT</a:t>
            </a:r>
            <a:endParaRPr lang="en-US" sz="650" dirty="0"/>
          </a:p>
        </p:txBody>
      </p:sp>
      <p:sp>
        <p:nvSpPr>
          <p:cNvPr id="48" name="Text 46"/>
          <p:cNvSpPr/>
          <p:nvPr/>
        </p:nvSpPr>
        <p:spPr>
          <a:xfrm>
            <a:off x="5449824" y="33009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Confidence: 96%. SSTI via Flask Jinja2.</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CVSS 9.8 (Critical). Storing as CONFIRMED.</a:t>
            </a:r>
            <a:endParaRPr lang="en-US" sz="850" dirty="0"/>
          </a:p>
        </p:txBody>
      </p:sp>
      <p:sp>
        <p:nvSpPr>
          <p:cNvPr id="49" name="Shape 47"/>
          <p:cNvSpPr/>
          <p:nvPr/>
        </p:nvSpPr>
        <p:spPr>
          <a:xfrm>
            <a:off x="4736592" y="3767328"/>
            <a:ext cx="640080" cy="146304"/>
          </a:xfrm>
          <a:prstGeom prst="rect">
            <a:avLst/>
          </a:prstGeom>
          <a:solidFill>
            <a:srgbClr val="F59E0B">
              <a:alpha val="25000"/>
            </a:srgbClr>
          </a:solidFill>
          <a:ln w="5080">
            <a:solidFill>
              <a:srgbClr val="F59E0B"/>
            </a:solidFill>
            <a:prstDash val="solid"/>
          </a:ln>
        </p:spPr>
        <p:txBody>
          <a:bodyPr/>
          <a:lstStyle/>
          <a:p>
            <a:endParaRPr lang="en-IN"/>
          </a:p>
        </p:txBody>
      </p:sp>
      <p:sp>
        <p:nvSpPr>
          <p:cNvPr id="50" name="Text 48"/>
          <p:cNvSpPr/>
          <p:nvPr/>
        </p:nvSpPr>
        <p:spPr>
          <a:xfrm>
            <a:off x="4736592" y="3767328"/>
            <a:ext cx="640080" cy="146304"/>
          </a:xfrm>
          <a:prstGeom prst="rect">
            <a:avLst/>
          </a:prstGeom>
          <a:noFill/>
          <a:ln/>
        </p:spPr>
        <p:txBody>
          <a:bodyPr wrap="square" lIns="0" tIns="0" rIns="0" bIns="0" rtlCol="0" anchor="ctr"/>
          <a:lstStyle/>
          <a:p>
            <a:pPr marL="0" indent="0" algn="ctr">
              <a:buNone/>
            </a:pPr>
            <a:r>
              <a:rPr lang="en-US" sz="650" b="1" dirty="0">
                <a:solidFill>
                  <a:srgbClr val="F59E0B"/>
                </a:solidFill>
                <a:latin typeface="Calibri" pitchFamily="34" charset="0"/>
                <a:ea typeface="Calibri" pitchFamily="34" charset="-122"/>
                <a:cs typeface="Calibri" pitchFamily="34" charset="-120"/>
              </a:rPr>
              <a:t>ACT</a:t>
            </a:r>
            <a:endParaRPr lang="en-US" sz="650" dirty="0"/>
          </a:p>
        </p:txBody>
      </p:sp>
      <p:sp>
        <p:nvSpPr>
          <p:cNvPr id="51" name="Text 49"/>
          <p:cNvSpPr/>
          <p:nvPr/>
        </p:nvSpPr>
        <p:spPr>
          <a:xfrm>
            <a:off x="5449824" y="37581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Tool: NVD API → CVE-2023-40585 verified.</a:t>
            </a:r>
            <a:endParaRPr lang="en-US" sz="850" dirty="0"/>
          </a:p>
        </p:txBody>
      </p:sp>
      <p:sp>
        <p:nvSpPr>
          <p:cNvPr id="52" name="Shape 50"/>
          <p:cNvSpPr/>
          <p:nvPr/>
        </p:nvSpPr>
        <p:spPr>
          <a:xfrm>
            <a:off x="4736592" y="4224528"/>
            <a:ext cx="640080" cy="146304"/>
          </a:xfrm>
          <a:prstGeom prst="rect">
            <a:avLst/>
          </a:prstGeom>
          <a:solidFill>
            <a:srgbClr val="DC2626">
              <a:alpha val="25000"/>
            </a:srgbClr>
          </a:solidFill>
          <a:ln w="5080">
            <a:solidFill>
              <a:srgbClr val="DC2626"/>
            </a:solidFill>
            <a:prstDash val="solid"/>
          </a:ln>
        </p:spPr>
        <p:txBody>
          <a:bodyPr/>
          <a:lstStyle/>
          <a:p>
            <a:endParaRPr lang="en-IN"/>
          </a:p>
        </p:txBody>
      </p:sp>
      <p:sp>
        <p:nvSpPr>
          <p:cNvPr id="53" name="Text 51"/>
          <p:cNvSpPr/>
          <p:nvPr/>
        </p:nvSpPr>
        <p:spPr>
          <a:xfrm>
            <a:off x="4736592" y="4224528"/>
            <a:ext cx="640080" cy="146304"/>
          </a:xfrm>
          <a:prstGeom prst="rect">
            <a:avLst/>
          </a:prstGeom>
          <a:noFill/>
          <a:ln/>
        </p:spPr>
        <p:txBody>
          <a:bodyPr wrap="square" lIns="0" tIns="0" rIns="0" bIns="0" rtlCol="0" anchor="ctr"/>
          <a:lstStyle/>
          <a:p>
            <a:pPr marL="0" indent="0" algn="ctr">
              <a:buNone/>
            </a:pPr>
            <a:r>
              <a:rPr lang="en-US" sz="650" b="1" dirty="0">
                <a:solidFill>
                  <a:srgbClr val="DC2626"/>
                </a:solidFill>
                <a:latin typeface="Calibri" pitchFamily="34" charset="0"/>
                <a:ea typeface="Calibri" pitchFamily="34" charset="-122"/>
                <a:cs typeface="Calibri" pitchFamily="34" charset="-120"/>
              </a:rPr>
              <a:t>REPLAN</a:t>
            </a:r>
            <a:endParaRPr lang="en-US" sz="650" dirty="0"/>
          </a:p>
        </p:txBody>
      </p:sp>
      <p:sp>
        <p:nvSpPr>
          <p:cNvPr id="54" name="Text 52"/>
          <p:cNvSpPr/>
          <p:nvPr/>
        </p:nvSpPr>
        <p:spPr>
          <a:xfrm>
            <a:off x="5449824" y="4215384"/>
            <a:ext cx="3337560" cy="420624"/>
          </a:xfrm>
          <a:prstGeom prst="rect">
            <a:avLst/>
          </a:prstGeom>
          <a:noFill/>
          <a:ln/>
        </p:spPr>
        <p:txBody>
          <a:bodyPr wrap="square" lIns="0" tIns="0" rIns="0" bIns="0" rtlCol="0" anchor="t"/>
          <a:lstStyle/>
          <a:p>
            <a:pPr marL="0" indent="0" algn="l">
              <a:buNone/>
            </a:pPr>
            <a:r>
              <a:rPr lang="en-US" sz="850" dirty="0">
                <a:solidFill>
                  <a:srgbClr val="CBD5E1"/>
                </a:solidFill>
                <a:latin typeface="Calibri" pitchFamily="34" charset="0"/>
                <a:ea typeface="Calibri" pitchFamily="34" charset="-122"/>
                <a:cs typeface="Calibri" pitchFamily="34" charset="-120"/>
              </a:rPr>
              <a:t>Patch Agent activated. Signed diff generated</a:t>
            </a:r>
            <a:endParaRPr lang="en-US" sz="850" dirty="0"/>
          </a:p>
          <a:p>
            <a:pPr marL="0" indent="0" algn="l">
              <a:buNone/>
            </a:pPr>
            <a:r>
              <a:rPr lang="en-US" sz="850" dirty="0">
                <a:solidFill>
                  <a:srgbClr val="CBD5E1"/>
                </a:solidFill>
                <a:latin typeface="Calibri" pitchFamily="34" charset="0"/>
                <a:ea typeface="Calibri" pitchFamily="34" charset="-122"/>
                <a:cs typeface="Calibri" pitchFamily="34" charset="-120"/>
              </a:rPr>
              <a:t>for views.py:47. Ranked Priority 1.</a:t>
            </a:r>
            <a:endParaRPr lang="en-US" sz="850" dirty="0"/>
          </a:p>
        </p:txBody>
      </p:sp>
      <p:sp>
        <p:nvSpPr>
          <p:cNvPr id="55" name="Text 53"/>
          <p:cNvSpPr/>
          <p:nvPr/>
        </p:nvSpPr>
        <p:spPr>
          <a:xfrm>
            <a:off x="256032" y="4846320"/>
            <a:ext cx="8595360" cy="201168"/>
          </a:xfrm>
          <a:prstGeom prst="rect">
            <a:avLst/>
          </a:prstGeom>
          <a:noFill/>
          <a:ln/>
        </p:spPr>
        <p:txBody>
          <a:bodyPr wrap="square" lIns="0" tIns="0" rIns="0" bIns="0" rtlCol="0" anchor="ctr"/>
          <a:lstStyle/>
          <a:p>
            <a:pPr marL="0" indent="0" algn="l">
              <a:buNone/>
            </a:pPr>
            <a:r>
              <a:rPr lang="en-US" sz="900" i="1" dirty="0">
                <a:solidFill>
                  <a:srgbClr val="475569"/>
                </a:solidFill>
                <a:latin typeface="Calibri" pitchFamily="34" charset="0"/>
                <a:ea typeface="Calibri" pitchFamily="34" charset="-122"/>
                <a:cs typeface="Calibri" pitchFamily="34" charset="-120"/>
              </a:rPr>
              <a:t>Agentic edge: agent explains every pivot — chain-of-thought is fully auditable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txBody>
          <a:bodyPr/>
          <a:lstStyle/>
          <a:p>
            <a:endParaRPr lang="en-IN"/>
          </a:p>
        </p:txBody>
      </p:sp>
      <p:sp>
        <p:nvSpPr>
          <p:cNvPr id="3" name="Text 1"/>
          <p:cNvSpPr/>
          <p:nvPr/>
        </p:nvSpPr>
        <p:spPr>
          <a:xfrm>
            <a:off x="365760" y="182880"/>
            <a:ext cx="8412480" cy="438912"/>
          </a:xfrm>
          <a:prstGeom prst="rect">
            <a:avLst/>
          </a:prstGeom>
          <a:noFill/>
          <a:ln/>
        </p:spPr>
        <p:txBody>
          <a:bodyPr wrap="square" lIns="0" tIns="0" rIns="0" bIns="0" rtlCol="0" anchor="ctr"/>
          <a:lstStyle/>
          <a:p>
            <a:pPr marL="0" indent="0" algn="l">
              <a:buNone/>
            </a:pPr>
            <a:r>
              <a:rPr lang="en-US" sz="2200" b="1" dirty="0">
                <a:solidFill>
                  <a:srgbClr val="F8FAFC"/>
                </a:solidFill>
                <a:latin typeface="Georgia" pitchFamily="34" charset="0"/>
                <a:ea typeface="Georgia" pitchFamily="34" charset="-122"/>
                <a:cs typeface="Georgia" pitchFamily="34" charset="-120"/>
              </a:rPr>
              <a:t>Security, Guardrails &amp; Tool Strategy</a:t>
            </a:r>
            <a:endParaRPr lang="en-US" sz="2200" dirty="0"/>
          </a:p>
        </p:txBody>
      </p:sp>
      <p:sp>
        <p:nvSpPr>
          <p:cNvPr id="4" name="Shape 2"/>
          <p:cNvSpPr/>
          <p:nvPr/>
        </p:nvSpPr>
        <p:spPr>
          <a:xfrm>
            <a:off x="365760" y="658368"/>
            <a:ext cx="1828800" cy="0"/>
          </a:xfrm>
          <a:prstGeom prst="line">
            <a:avLst/>
          </a:prstGeom>
          <a:noFill/>
          <a:ln w="19050">
            <a:solidFill>
              <a:srgbClr val="3B82F6"/>
            </a:solidFill>
            <a:prstDash val="solid"/>
          </a:ln>
        </p:spPr>
        <p:txBody>
          <a:bodyPr/>
          <a:lstStyle/>
          <a:p>
            <a:endParaRPr lang="en-IN" sz="2000"/>
          </a:p>
        </p:txBody>
      </p:sp>
      <p:sp>
        <p:nvSpPr>
          <p:cNvPr id="5" name="Shape 3"/>
          <p:cNvSpPr/>
          <p:nvPr/>
        </p:nvSpPr>
        <p:spPr>
          <a:xfrm>
            <a:off x="256032" y="804672"/>
            <a:ext cx="4114800" cy="621792"/>
          </a:xfrm>
          <a:prstGeom prst="rect">
            <a:avLst/>
          </a:prstGeom>
          <a:solidFill>
            <a:srgbClr val="131E30"/>
          </a:solidFill>
          <a:ln w="6350">
            <a:solidFill>
              <a:srgbClr val="334155"/>
            </a:solidFill>
            <a:prstDash val="solid"/>
          </a:ln>
        </p:spPr>
        <p:txBody>
          <a:bodyPr/>
          <a:lstStyle/>
          <a:p>
            <a:endParaRPr lang="en-IN" sz="2000"/>
          </a:p>
        </p:txBody>
      </p:sp>
      <p:sp>
        <p:nvSpPr>
          <p:cNvPr id="6" name="Shape 4"/>
          <p:cNvSpPr/>
          <p:nvPr/>
        </p:nvSpPr>
        <p:spPr>
          <a:xfrm>
            <a:off x="256032" y="804672"/>
            <a:ext cx="54864" cy="621792"/>
          </a:xfrm>
          <a:prstGeom prst="rect">
            <a:avLst/>
          </a:prstGeom>
          <a:solidFill>
            <a:srgbClr val="DC2626"/>
          </a:solidFill>
          <a:ln w="12700">
            <a:solidFill>
              <a:srgbClr val="DC2626"/>
            </a:solidFill>
            <a:prstDash val="solid"/>
          </a:ln>
        </p:spPr>
        <p:txBody>
          <a:bodyPr/>
          <a:lstStyle/>
          <a:p>
            <a:endParaRPr lang="en-IN" sz="2000"/>
          </a:p>
        </p:txBody>
      </p:sp>
      <p:sp>
        <p:nvSpPr>
          <p:cNvPr id="7" name="Text 5"/>
          <p:cNvSpPr/>
          <p:nvPr/>
        </p:nvSpPr>
        <p:spPr>
          <a:xfrm>
            <a:off x="402336" y="841248"/>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Sentinel token locking</a:t>
            </a:r>
            <a:endParaRPr lang="en-US" sz="1050" dirty="0"/>
          </a:p>
        </p:txBody>
      </p:sp>
      <p:sp>
        <p:nvSpPr>
          <p:cNvPr id="8" name="Text 6"/>
          <p:cNvSpPr/>
          <p:nvPr/>
        </p:nvSpPr>
        <p:spPr>
          <a:xfrm>
            <a:off x="402336" y="1060704"/>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System prompt wrapped in |||SYS_BEGIN||| / |||SYS_END|||. Tool output containing these strings hard-rejected before LLM context injection.</a:t>
            </a:r>
            <a:endParaRPr lang="en-US" sz="900" dirty="0"/>
          </a:p>
        </p:txBody>
      </p:sp>
      <p:sp>
        <p:nvSpPr>
          <p:cNvPr id="9" name="Shape 7"/>
          <p:cNvSpPr/>
          <p:nvPr/>
        </p:nvSpPr>
        <p:spPr>
          <a:xfrm>
            <a:off x="256032" y="1499616"/>
            <a:ext cx="4114800" cy="621792"/>
          </a:xfrm>
          <a:prstGeom prst="rect">
            <a:avLst/>
          </a:prstGeom>
          <a:solidFill>
            <a:srgbClr val="131E30"/>
          </a:solidFill>
          <a:ln w="6350">
            <a:solidFill>
              <a:srgbClr val="334155"/>
            </a:solidFill>
            <a:prstDash val="solid"/>
          </a:ln>
        </p:spPr>
        <p:txBody>
          <a:bodyPr/>
          <a:lstStyle/>
          <a:p>
            <a:endParaRPr lang="en-IN" sz="2000"/>
          </a:p>
        </p:txBody>
      </p:sp>
      <p:sp>
        <p:nvSpPr>
          <p:cNvPr id="10" name="Shape 8"/>
          <p:cNvSpPr/>
          <p:nvPr/>
        </p:nvSpPr>
        <p:spPr>
          <a:xfrm>
            <a:off x="256032" y="1499616"/>
            <a:ext cx="54864" cy="621792"/>
          </a:xfrm>
          <a:prstGeom prst="rect">
            <a:avLst/>
          </a:prstGeom>
          <a:solidFill>
            <a:srgbClr val="F59E0B"/>
          </a:solidFill>
          <a:ln w="12700">
            <a:solidFill>
              <a:srgbClr val="F59E0B"/>
            </a:solidFill>
            <a:prstDash val="solid"/>
          </a:ln>
        </p:spPr>
        <p:txBody>
          <a:bodyPr/>
          <a:lstStyle/>
          <a:p>
            <a:endParaRPr lang="en-IN" sz="2000"/>
          </a:p>
        </p:txBody>
      </p:sp>
      <p:sp>
        <p:nvSpPr>
          <p:cNvPr id="11" name="Text 9"/>
          <p:cNvSpPr/>
          <p:nvPr/>
        </p:nvSpPr>
        <p:spPr>
          <a:xfrm>
            <a:off x="402336" y="1536192"/>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Docker + seccomp isolation</a:t>
            </a:r>
            <a:endParaRPr lang="en-US" sz="1050" dirty="0"/>
          </a:p>
        </p:txBody>
      </p:sp>
      <p:sp>
        <p:nvSpPr>
          <p:cNvPr id="12" name="Text 10"/>
          <p:cNvSpPr/>
          <p:nvPr/>
        </p:nvSpPr>
        <p:spPr>
          <a:xfrm>
            <a:off x="402336" y="1755648"/>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Per-call containers with custom seccomp profile. Blocked syscalls: ptrace, mount, chroot. Container destroyed after single use.</a:t>
            </a:r>
            <a:endParaRPr lang="en-US" sz="900" dirty="0"/>
          </a:p>
        </p:txBody>
      </p:sp>
      <p:sp>
        <p:nvSpPr>
          <p:cNvPr id="13" name="Shape 11"/>
          <p:cNvSpPr/>
          <p:nvPr/>
        </p:nvSpPr>
        <p:spPr>
          <a:xfrm>
            <a:off x="256032" y="2194560"/>
            <a:ext cx="4114800" cy="621792"/>
          </a:xfrm>
          <a:prstGeom prst="rect">
            <a:avLst/>
          </a:prstGeom>
          <a:solidFill>
            <a:srgbClr val="131E30"/>
          </a:solidFill>
          <a:ln w="6350">
            <a:solidFill>
              <a:srgbClr val="334155"/>
            </a:solidFill>
            <a:prstDash val="solid"/>
          </a:ln>
        </p:spPr>
        <p:txBody>
          <a:bodyPr/>
          <a:lstStyle/>
          <a:p>
            <a:endParaRPr lang="en-IN" sz="2000"/>
          </a:p>
        </p:txBody>
      </p:sp>
      <p:sp>
        <p:nvSpPr>
          <p:cNvPr id="14" name="Shape 12"/>
          <p:cNvSpPr/>
          <p:nvPr/>
        </p:nvSpPr>
        <p:spPr>
          <a:xfrm>
            <a:off x="256032" y="2194560"/>
            <a:ext cx="54864" cy="621792"/>
          </a:xfrm>
          <a:prstGeom prst="rect">
            <a:avLst/>
          </a:prstGeom>
          <a:solidFill>
            <a:srgbClr val="3B82F6"/>
          </a:solidFill>
          <a:ln w="12700">
            <a:solidFill>
              <a:srgbClr val="3B82F6"/>
            </a:solidFill>
            <a:prstDash val="solid"/>
          </a:ln>
        </p:spPr>
        <p:txBody>
          <a:bodyPr/>
          <a:lstStyle/>
          <a:p>
            <a:endParaRPr lang="en-IN" sz="2000"/>
          </a:p>
        </p:txBody>
      </p:sp>
      <p:sp>
        <p:nvSpPr>
          <p:cNvPr id="15" name="Text 13"/>
          <p:cNvSpPr/>
          <p:nvPr/>
        </p:nvSpPr>
        <p:spPr>
          <a:xfrm>
            <a:off x="402336" y="2231136"/>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Human-in-the-loop gates</a:t>
            </a:r>
            <a:endParaRPr lang="en-US" sz="1050" dirty="0"/>
          </a:p>
        </p:txBody>
      </p:sp>
      <p:sp>
        <p:nvSpPr>
          <p:cNvPr id="16" name="Text 14"/>
          <p:cNvSpPr/>
          <p:nvPr/>
        </p:nvSpPr>
        <p:spPr>
          <a:xfrm>
            <a:off x="402336" y="2450592"/>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Agent pauses before destructive actions. Exploit Engine confidence &lt; 70% → auto-escalates. Patches delivered as signed diffs — never auto-applied.</a:t>
            </a:r>
            <a:endParaRPr lang="en-US" sz="900" dirty="0"/>
          </a:p>
        </p:txBody>
      </p:sp>
      <p:sp>
        <p:nvSpPr>
          <p:cNvPr id="17" name="Shape 15"/>
          <p:cNvSpPr/>
          <p:nvPr/>
        </p:nvSpPr>
        <p:spPr>
          <a:xfrm>
            <a:off x="256032" y="2889504"/>
            <a:ext cx="4114800" cy="621792"/>
          </a:xfrm>
          <a:prstGeom prst="rect">
            <a:avLst/>
          </a:prstGeom>
          <a:solidFill>
            <a:srgbClr val="131E30"/>
          </a:solidFill>
          <a:ln w="6350">
            <a:solidFill>
              <a:srgbClr val="334155"/>
            </a:solidFill>
            <a:prstDash val="solid"/>
          </a:ln>
        </p:spPr>
        <p:txBody>
          <a:bodyPr/>
          <a:lstStyle/>
          <a:p>
            <a:endParaRPr lang="en-IN" sz="2000"/>
          </a:p>
        </p:txBody>
      </p:sp>
      <p:sp>
        <p:nvSpPr>
          <p:cNvPr id="18" name="Shape 16"/>
          <p:cNvSpPr/>
          <p:nvPr/>
        </p:nvSpPr>
        <p:spPr>
          <a:xfrm>
            <a:off x="256032" y="2889504"/>
            <a:ext cx="54864" cy="621792"/>
          </a:xfrm>
          <a:prstGeom prst="rect">
            <a:avLst/>
          </a:prstGeom>
          <a:solidFill>
            <a:srgbClr val="10B981"/>
          </a:solidFill>
          <a:ln w="12700">
            <a:solidFill>
              <a:srgbClr val="10B981"/>
            </a:solidFill>
            <a:prstDash val="solid"/>
          </a:ln>
        </p:spPr>
        <p:txBody>
          <a:bodyPr/>
          <a:lstStyle/>
          <a:p>
            <a:endParaRPr lang="en-IN" sz="2000"/>
          </a:p>
        </p:txBody>
      </p:sp>
      <p:sp>
        <p:nvSpPr>
          <p:cNvPr id="19" name="Text 17"/>
          <p:cNvSpPr/>
          <p:nvPr/>
        </p:nvSpPr>
        <p:spPr>
          <a:xfrm>
            <a:off x="402336" y="2926080"/>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Pydantic strict validation</a:t>
            </a:r>
            <a:endParaRPr lang="en-US" sz="1050" dirty="0"/>
          </a:p>
        </p:txBody>
      </p:sp>
      <p:sp>
        <p:nvSpPr>
          <p:cNvPr id="20" name="Text 18"/>
          <p:cNvSpPr/>
          <p:nvPr/>
        </p:nvSpPr>
        <p:spPr>
          <a:xfrm>
            <a:off x="402336" y="3145536"/>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All outputs validated: action: Literal['tool_call','reflect','done']. Tool name from allowlist only. Unexpected fields raise ValidationError — no silent coercion.</a:t>
            </a:r>
            <a:endParaRPr lang="en-US" sz="900" dirty="0"/>
          </a:p>
        </p:txBody>
      </p:sp>
      <p:sp>
        <p:nvSpPr>
          <p:cNvPr id="21" name="Shape 19"/>
          <p:cNvSpPr/>
          <p:nvPr/>
        </p:nvSpPr>
        <p:spPr>
          <a:xfrm>
            <a:off x="256032" y="3584448"/>
            <a:ext cx="4114800" cy="621792"/>
          </a:xfrm>
          <a:prstGeom prst="rect">
            <a:avLst/>
          </a:prstGeom>
          <a:solidFill>
            <a:srgbClr val="131E30"/>
          </a:solidFill>
          <a:ln w="6350">
            <a:solidFill>
              <a:srgbClr val="334155"/>
            </a:solidFill>
            <a:prstDash val="solid"/>
          </a:ln>
        </p:spPr>
        <p:txBody>
          <a:bodyPr/>
          <a:lstStyle/>
          <a:p>
            <a:endParaRPr lang="en-IN" sz="2000"/>
          </a:p>
        </p:txBody>
      </p:sp>
      <p:sp>
        <p:nvSpPr>
          <p:cNvPr id="22" name="Shape 20"/>
          <p:cNvSpPr/>
          <p:nvPr/>
        </p:nvSpPr>
        <p:spPr>
          <a:xfrm>
            <a:off x="256032" y="3584448"/>
            <a:ext cx="54864" cy="621792"/>
          </a:xfrm>
          <a:prstGeom prst="rect">
            <a:avLst/>
          </a:prstGeom>
          <a:solidFill>
            <a:srgbClr val="8B5CF6"/>
          </a:solidFill>
          <a:ln w="12700">
            <a:solidFill>
              <a:srgbClr val="8B5CF6"/>
            </a:solidFill>
            <a:prstDash val="solid"/>
          </a:ln>
        </p:spPr>
        <p:txBody>
          <a:bodyPr/>
          <a:lstStyle/>
          <a:p>
            <a:endParaRPr lang="en-IN" sz="2000"/>
          </a:p>
        </p:txBody>
      </p:sp>
      <p:sp>
        <p:nvSpPr>
          <p:cNvPr id="23" name="Text 21"/>
          <p:cNvSpPr/>
          <p:nvPr/>
        </p:nvSpPr>
        <p:spPr>
          <a:xfrm>
            <a:off x="402336" y="3621024"/>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Red lines (action_validator)</a:t>
            </a:r>
            <a:endParaRPr lang="en-US" sz="1050" dirty="0"/>
          </a:p>
        </p:txBody>
      </p:sp>
      <p:sp>
        <p:nvSpPr>
          <p:cNvPr id="24" name="Text 22"/>
          <p:cNvSpPr/>
          <p:nvPr/>
        </p:nvSpPr>
        <p:spPr>
          <a:xfrm>
            <a:off x="402336" y="3840480"/>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Pre-execution check before every tool call. NEVER exfiltrate data. NEVER connect outside scope. Cannot be overridden by agent reasoning. Violation → SIGTERM + alert.</a:t>
            </a:r>
            <a:endParaRPr lang="en-US" sz="900" dirty="0"/>
          </a:p>
        </p:txBody>
      </p:sp>
      <p:sp>
        <p:nvSpPr>
          <p:cNvPr id="25" name="Shape 23"/>
          <p:cNvSpPr/>
          <p:nvPr/>
        </p:nvSpPr>
        <p:spPr>
          <a:xfrm>
            <a:off x="256032" y="4279392"/>
            <a:ext cx="4114800" cy="681228"/>
          </a:xfrm>
          <a:prstGeom prst="rect">
            <a:avLst/>
          </a:prstGeom>
          <a:solidFill>
            <a:srgbClr val="131E30"/>
          </a:solidFill>
          <a:ln w="6350">
            <a:solidFill>
              <a:srgbClr val="334155"/>
            </a:solidFill>
            <a:prstDash val="solid"/>
          </a:ln>
        </p:spPr>
        <p:txBody>
          <a:bodyPr/>
          <a:lstStyle/>
          <a:p>
            <a:endParaRPr lang="en-IN" sz="2000"/>
          </a:p>
        </p:txBody>
      </p:sp>
      <p:sp>
        <p:nvSpPr>
          <p:cNvPr id="26" name="Shape 24"/>
          <p:cNvSpPr/>
          <p:nvPr/>
        </p:nvSpPr>
        <p:spPr>
          <a:xfrm>
            <a:off x="256032" y="4318137"/>
            <a:ext cx="54864" cy="621792"/>
          </a:xfrm>
          <a:prstGeom prst="rect">
            <a:avLst/>
          </a:prstGeom>
          <a:solidFill>
            <a:srgbClr val="CBD5E1"/>
          </a:solidFill>
          <a:ln w="12700">
            <a:solidFill>
              <a:srgbClr val="CBD5E1"/>
            </a:solidFill>
            <a:prstDash val="solid"/>
          </a:ln>
        </p:spPr>
        <p:txBody>
          <a:bodyPr/>
          <a:lstStyle/>
          <a:p>
            <a:endParaRPr lang="en-IN" sz="2000"/>
          </a:p>
        </p:txBody>
      </p:sp>
      <p:sp>
        <p:nvSpPr>
          <p:cNvPr id="27" name="Text 25"/>
          <p:cNvSpPr/>
          <p:nvPr/>
        </p:nvSpPr>
        <p:spPr>
          <a:xfrm>
            <a:off x="402336" y="4315968"/>
            <a:ext cx="3840480" cy="201168"/>
          </a:xfrm>
          <a:prstGeom prst="rect">
            <a:avLst/>
          </a:prstGeom>
          <a:noFill/>
          <a:ln/>
        </p:spPr>
        <p:txBody>
          <a:bodyPr wrap="square" lIns="0" tIns="0" rIns="0" bIns="0" rtlCol="0" anchor="ctr"/>
          <a:lstStyle/>
          <a:p>
            <a:pPr marL="0" indent="0" algn="l">
              <a:buNone/>
            </a:pPr>
            <a:r>
              <a:rPr lang="en-US" sz="1050" b="1" dirty="0">
                <a:solidFill>
                  <a:srgbClr val="F8FAFC"/>
                </a:solidFill>
                <a:latin typeface="Georgia" pitchFamily="34" charset="0"/>
                <a:ea typeface="Georgia" pitchFamily="34" charset="-122"/>
                <a:cs typeface="Georgia" pitchFamily="34" charset="-120"/>
              </a:rPr>
              <a:t>SHA-256 audit log chaining</a:t>
            </a:r>
            <a:endParaRPr lang="en-US" sz="1050" dirty="0"/>
          </a:p>
        </p:txBody>
      </p:sp>
      <p:sp>
        <p:nvSpPr>
          <p:cNvPr id="28" name="Text 26"/>
          <p:cNvSpPr/>
          <p:nvPr/>
        </p:nvSpPr>
        <p:spPr>
          <a:xfrm>
            <a:off x="402336" y="4535424"/>
            <a:ext cx="3840480" cy="329184"/>
          </a:xfrm>
          <a:prstGeom prst="rect">
            <a:avLst/>
          </a:prstGeom>
          <a:noFill/>
          <a:ln/>
        </p:spPr>
        <p:txBody>
          <a:bodyPr wrap="square" lIns="0" tIns="0" rIns="0" bIns="0" rtlCol="0" anchor="t"/>
          <a:lstStyle/>
          <a:p>
            <a:pPr marL="0" indent="0" algn="l">
              <a:buNone/>
            </a:pPr>
            <a:r>
              <a:rPr lang="en-US" sz="900" dirty="0">
                <a:solidFill>
                  <a:srgbClr val="94A3B8"/>
                </a:solidFill>
                <a:latin typeface="Calibri" pitchFamily="34" charset="0"/>
                <a:ea typeface="Calibri" pitchFamily="34" charset="-122"/>
                <a:cs typeface="Calibri" pitchFamily="34" charset="-120"/>
              </a:rPr>
              <a:t>Every action logged: timestamp, agent_id, action, tool, args_hash, confidence, outcome. Hash-chained entries. Tamper-evident. Compatible with Splunk / any SIEM.</a:t>
            </a:r>
            <a:endParaRPr lang="en-US" sz="900" dirty="0"/>
          </a:p>
        </p:txBody>
      </p:sp>
      <p:sp>
        <p:nvSpPr>
          <p:cNvPr id="29" name="Text 27"/>
          <p:cNvSpPr/>
          <p:nvPr/>
        </p:nvSpPr>
        <p:spPr>
          <a:xfrm>
            <a:off x="4663440" y="768096"/>
            <a:ext cx="4206240" cy="274320"/>
          </a:xfrm>
          <a:prstGeom prst="rect">
            <a:avLst/>
          </a:prstGeom>
          <a:noFill/>
          <a:ln/>
        </p:spPr>
        <p:txBody>
          <a:bodyPr wrap="square" lIns="0" tIns="0" rIns="0" bIns="0" rtlCol="0" anchor="ctr"/>
          <a:lstStyle/>
          <a:p>
            <a:pPr marL="0" indent="0" algn="l">
              <a:buNone/>
            </a:pPr>
            <a:r>
              <a:rPr lang="en-US" sz="1400" b="1" dirty="0">
                <a:solidFill>
                  <a:srgbClr val="F8FAFC"/>
                </a:solidFill>
                <a:latin typeface="Georgia" pitchFamily="34" charset="0"/>
                <a:ea typeface="Georgia" pitchFamily="34" charset="-122"/>
                <a:cs typeface="Georgia" pitchFamily="34" charset="-120"/>
              </a:rPr>
              <a:t>Tool Integration</a:t>
            </a:r>
            <a:endParaRPr lang="en-US" sz="1400" dirty="0"/>
          </a:p>
        </p:txBody>
      </p:sp>
      <p:sp>
        <p:nvSpPr>
          <p:cNvPr id="30" name="Shape 28"/>
          <p:cNvSpPr/>
          <p:nvPr/>
        </p:nvSpPr>
        <p:spPr>
          <a:xfrm>
            <a:off x="4663440" y="1078992"/>
            <a:ext cx="4114800" cy="0"/>
          </a:xfrm>
          <a:prstGeom prst="line">
            <a:avLst/>
          </a:prstGeom>
          <a:noFill/>
          <a:ln w="6350">
            <a:solidFill>
              <a:srgbClr val="334155"/>
            </a:solidFill>
            <a:prstDash val="solid"/>
          </a:ln>
        </p:spPr>
        <p:txBody>
          <a:bodyPr/>
          <a:lstStyle/>
          <a:p>
            <a:endParaRPr lang="en-IN" sz="2000"/>
          </a:p>
        </p:txBody>
      </p:sp>
      <p:sp>
        <p:nvSpPr>
          <p:cNvPr id="31" name="Shape 29"/>
          <p:cNvSpPr/>
          <p:nvPr/>
        </p:nvSpPr>
        <p:spPr>
          <a:xfrm>
            <a:off x="4663440" y="1133856"/>
            <a:ext cx="4206240" cy="384048"/>
          </a:xfrm>
          <a:prstGeom prst="rect">
            <a:avLst/>
          </a:prstGeom>
          <a:solidFill>
            <a:srgbClr val="1C2B40"/>
          </a:solidFill>
          <a:ln w="5080">
            <a:solidFill>
              <a:srgbClr val="334155"/>
            </a:solidFill>
            <a:prstDash val="solid"/>
          </a:ln>
        </p:spPr>
        <p:txBody>
          <a:bodyPr/>
          <a:lstStyle/>
          <a:p>
            <a:endParaRPr lang="en-IN" sz="2000"/>
          </a:p>
        </p:txBody>
      </p:sp>
      <p:sp>
        <p:nvSpPr>
          <p:cNvPr id="32" name="Shape 30"/>
          <p:cNvSpPr/>
          <p:nvPr/>
        </p:nvSpPr>
        <p:spPr>
          <a:xfrm>
            <a:off x="4663440" y="1261872"/>
            <a:ext cx="64008" cy="128016"/>
          </a:xfrm>
          <a:prstGeom prst="rect">
            <a:avLst/>
          </a:prstGeom>
          <a:solidFill>
            <a:srgbClr val="DC2626"/>
          </a:solidFill>
          <a:ln w="12700">
            <a:solidFill>
              <a:srgbClr val="DC2626"/>
            </a:solidFill>
            <a:prstDash val="solid"/>
          </a:ln>
        </p:spPr>
        <p:txBody>
          <a:bodyPr/>
          <a:lstStyle/>
          <a:p>
            <a:endParaRPr lang="en-IN" sz="2000"/>
          </a:p>
        </p:txBody>
      </p:sp>
      <p:sp>
        <p:nvSpPr>
          <p:cNvPr id="33" name="Text 31"/>
          <p:cNvSpPr/>
          <p:nvPr/>
        </p:nvSpPr>
        <p:spPr>
          <a:xfrm>
            <a:off x="4809744" y="1133856"/>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nmap</a:t>
            </a:r>
            <a:endParaRPr lang="en-US" sz="1000" dirty="0"/>
          </a:p>
        </p:txBody>
      </p:sp>
      <p:sp>
        <p:nvSpPr>
          <p:cNvPr id="34" name="Text 32"/>
          <p:cNvSpPr/>
          <p:nvPr/>
        </p:nvSpPr>
        <p:spPr>
          <a:xfrm>
            <a:off x="6126480" y="1133856"/>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Port scan, service detect</a:t>
            </a:r>
            <a:endParaRPr lang="en-US" sz="1000" dirty="0"/>
          </a:p>
        </p:txBody>
      </p:sp>
      <p:sp>
        <p:nvSpPr>
          <p:cNvPr id="35" name="Shape 33"/>
          <p:cNvSpPr/>
          <p:nvPr/>
        </p:nvSpPr>
        <p:spPr>
          <a:xfrm>
            <a:off x="4663440" y="1536192"/>
            <a:ext cx="4206240" cy="384048"/>
          </a:xfrm>
          <a:prstGeom prst="rect">
            <a:avLst/>
          </a:prstGeom>
          <a:solidFill>
            <a:srgbClr val="0B1120"/>
          </a:solidFill>
          <a:ln w="5080">
            <a:solidFill>
              <a:srgbClr val="334155"/>
            </a:solidFill>
            <a:prstDash val="solid"/>
          </a:ln>
        </p:spPr>
        <p:txBody>
          <a:bodyPr/>
          <a:lstStyle/>
          <a:p>
            <a:endParaRPr lang="en-IN" sz="2000"/>
          </a:p>
        </p:txBody>
      </p:sp>
      <p:sp>
        <p:nvSpPr>
          <p:cNvPr id="36" name="Shape 34"/>
          <p:cNvSpPr/>
          <p:nvPr/>
        </p:nvSpPr>
        <p:spPr>
          <a:xfrm>
            <a:off x="4663440" y="1664208"/>
            <a:ext cx="64008" cy="128016"/>
          </a:xfrm>
          <a:prstGeom prst="rect">
            <a:avLst/>
          </a:prstGeom>
          <a:solidFill>
            <a:srgbClr val="DC2626"/>
          </a:solidFill>
          <a:ln w="12700">
            <a:solidFill>
              <a:srgbClr val="DC2626"/>
            </a:solidFill>
            <a:prstDash val="solid"/>
          </a:ln>
        </p:spPr>
        <p:txBody>
          <a:bodyPr/>
          <a:lstStyle/>
          <a:p>
            <a:endParaRPr lang="en-IN" sz="2000"/>
          </a:p>
        </p:txBody>
      </p:sp>
      <p:sp>
        <p:nvSpPr>
          <p:cNvPr id="37" name="Text 35"/>
          <p:cNvSpPr/>
          <p:nvPr/>
        </p:nvSpPr>
        <p:spPr>
          <a:xfrm>
            <a:off x="4809744" y="1536192"/>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Shodan API</a:t>
            </a:r>
            <a:endParaRPr lang="en-US" sz="1000" dirty="0"/>
          </a:p>
        </p:txBody>
      </p:sp>
      <p:sp>
        <p:nvSpPr>
          <p:cNvPr id="38" name="Text 36"/>
          <p:cNvSpPr/>
          <p:nvPr/>
        </p:nvSpPr>
        <p:spPr>
          <a:xfrm>
            <a:off x="6126480" y="1536192"/>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External attack surface</a:t>
            </a:r>
            <a:endParaRPr lang="en-US" sz="1000" dirty="0"/>
          </a:p>
        </p:txBody>
      </p:sp>
      <p:sp>
        <p:nvSpPr>
          <p:cNvPr id="39" name="Shape 37"/>
          <p:cNvSpPr/>
          <p:nvPr/>
        </p:nvSpPr>
        <p:spPr>
          <a:xfrm>
            <a:off x="4663440" y="1938528"/>
            <a:ext cx="4206240" cy="384048"/>
          </a:xfrm>
          <a:prstGeom prst="rect">
            <a:avLst/>
          </a:prstGeom>
          <a:solidFill>
            <a:srgbClr val="1C2B40"/>
          </a:solidFill>
          <a:ln w="5080">
            <a:solidFill>
              <a:srgbClr val="334155"/>
            </a:solidFill>
            <a:prstDash val="solid"/>
          </a:ln>
        </p:spPr>
        <p:txBody>
          <a:bodyPr/>
          <a:lstStyle/>
          <a:p>
            <a:endParaRPr lang="en-IN" sz="2000"/>
          </a:p>
        </p:txBody>
      </p:sp>
      <p:sp>
        <p:nvSpPr>
          <p:cNvPr id="40" name="Shape 38"/>
          <p:cNvSpPr/>
          <p:nvPr/>
        </p:nvSpPr>
        <p:spPr>
          <a:xfrm>
            <a:off x="4663440" y="2066544"/>
            <a:ext cx="64008" cy="128016"/>
          </a:xfrm>
          <a:prstGeom prst="rect">
            <a:avLst/>
          </a:prstGeom>
          <a:solidFill>
            <a:srgbClr val="F59E0B"/>
          </a:solidFill>
          <a:ln w="12700">
            <a:solidFill>
              <a:srgbClr val="F59E0B"/>
            </a:solidFill>
            <a:prstDash val="solid"/>
          </a:ln>
        </p:spPr>
        <p:txBody>
          <a:bodyPr/>
          <a:lstStyle/>
          <a:p>
            <a:endParaRPr lang="en-IN" sz="2000"/>
          </a:p>
        </p:txBody>
      </p:sp>
      <p:sp>
        <p:nvSpPr>
          <p:cNvPr id="41" name="Text 39"/>
          <p:cNvSpPr/>
          <p:nvPr/>
        </p:nvSpPr>
        <p:spPr>
          <a:xfrm>
            <a:off x="4809744" y="1938528"/>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MITRE ATT&amp;CK</a:t>
            </a:r>
            <a:endParaRPr lang="en-US" sz="1000" dirty="0"/>
          </a:p>
        </p:txBody>
      </p:sp>
      <p:sp>
        <p:nvSpPr>
          <p:cNvPr id="42" name="Text 40"/>
          <p:cNvSpPr/>
          <p:nvPr/>
        </p:nvSpPr>
        <p:spPr>
          <a:xfrm>
            <a:off x="6126480" y="1938528"/>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TTP mapping, kill chain</a:t>
            </a:r>
            <a:endParaRPr lang="en-US" sz="1000" dirty="0"/>
          </a:p>
        </p:txBody>
      </p:sp>
      <p:sp>
        <p:nvSpPr>
          <p:cNvPr id="43" name="Shape 41"/>
          <p:cNvSpPr/>
          <p:nvPr/>
        </p:nvSpPr>
        <p:spPr>
          <a:xfrm>
            <a:off x="4663440" y="2340864"/>
            <a:ext cx="4206240" cy="384048"/>
          </a:xfrm>
          <a:prstGeom prst="rect">
            <a:avLst/>
          </a:prstGeom>
          <a:solidFill>
            <a:srgbClr val="0B1120"/>
          </a:solidFill>
          <a:ln w="5080">
            <a:solidFill>
              <a:srgbClr val="334155"/>
            </a:solidFill>
            <a:prstDash val="solid"/>
          </a:ln>
        </p:spPr>
        <p:txBody>
          <a:bodyPr/>
          <a:lstStyle/>
          <a:p>
            <a:endParaRPr lang="en-IN" sz="2000"/>
          </a:p>
        </p:txBody>
      </p:sp>
      <p:sp>
        <p:nvSpPr>
          <p:cNvPr id="44" name="Shape 42"/>
          <p:cNvSpPr/>
          <p:nvPr/>
        </p:nvSpPr>
        <p:spPr>
          <a:xfrm>
            <a:off x="4663440" y="2468880"/>
            <a:ext cx="64008" cy="128016"/>
          </a:xfrm>
          <a:prstGeom prst="rect">
            <a:avLst/>
          </a:prstGeom>
          <a:solidFill>
            <a:srgbClr val="3B82F6"/>
          </a:solidFill>
          <a:ln w="12700">
            <a:solidFill>
              <a:srgbClr val="3B82F6"/>
            </a:solidFill>
            <a:prstDash val="solid"/>
          </a:ln>
        </p:spPr>
        <p:txBody>
          <a:bodyPr/>
          <a:lstStyle/>
          <a:p>
            <a:endParaRPr lang="en-IN" sz="2000"/>
          </a:p>
        </p:txBody>
      </p:sp>
      <p:sp>
        <p:nvSpPr>
          <p:cNvPr id="45" name="Text 43"/>
          <p:cNvSpPr/>
          <p:nvPr/>
        </p:nvSpPr>
        <p:spPr>
          <a:xfrm>
            <a:off x="4809744" y="2340864"/>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Semgrep</a:t>
            </a:r>
            <a:endParaRPr lang="en-US" sz="1000" dirty="0"/>
          </a:p>
        </p:txBody>
      </p:sp>
      <p:sp>
        <p:nvSpPr>
          <p:cNvPr id="46" name="Text 44"/>
          <p:cNvSpPr/>
          <p:nvPr/>
        </p:nvSpPr>
        <p:spPr>
          <a:xfrm>
            <a:off x="6126480" y="2340864"/>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Static code analysis</a:t>
            </a:r>
            <a:endParaRPr lang="en-US" sz="1000" dirty="0"/>
          </a:p>
        </p:txBody>
      </p:sp>
      <p:sp>
        <p:nvSpPr>
          <p:cNvPr id="47" name="Shape 45"/>
          <p:cNvSpPr/>
          <p:nvPr/>
        </p:nvSpPr>
        <p:spPr>
          <a:xfrm>
            <a:off x="4663440" y="2743200"/>
            <a:ext cx="4206240" cy="384048"/>
          </a:xfrm>
          <a:prstGeom prst="rect">
            <a:avLst/>
          </a:prstGeom>
          <a:solidFill>
            <a:srgbClr val="1C2B40"/>
          </a:solidFill>
          <a:ln w="5080">
            <a:solidFill>
              <a:srgbClr val="334155"/>
            </a:solidFill>
            <a:prstDash val="solid"/>
          </a:ln>
        </p:spPr>
        <p:txBody>
          <a:bodyPr/>
          <a:lstStyle/>
          <a:p>
            <a:endParaRPr lang="en-IN" sz="2000"/>
          </a:p>
        </p:txBody>
      </p:sp>
      <p:sp>
        <p:nvSpPr>
          <p:cNvPr id="48" name="Shape 46"/>
          <p:cNvSpPr/>
          <p:nvPr/>
        </p:nvSpPr>
        <p:spPr>
          <a:xfrm>
            <a:off x="4663440" y="2871216"/>
            <a:ext cx="64008" cy="128016"/>
          </a:xfrm>
          <a:prstGeom prst="rect">
            <a:avLst/>
          </a:prstGeom>
          <a:solidFill>
            <a:srgbClr val="3B82F6"/>
          </a:solidFill>
          <a:ln w="12700">
            <a:solidFill>
              <a:srgbClr val="3B82F6"/>
            </a:solidFill>
            <a:prstDash val="solid"/>
          </a:ln>
        </p:spPr>
        <p:txBody>
          <a:bodyPr/>
          <a:lstStyle/>
          <a:p>
            <a:endParaRPr lang="en-IN" sz="2000"/>
          </a:p>
        </p:txBody>
      </p:sp>
      <p:sp>
        <p:nvSpPr>
          <p:cNvPr id="49" name="Text 47"/>
          <p:cNvSpPr/>
          <p:nvPr/>
        </p:nvSpPr>
        <p:spPr>
          <a:xfrm>
            <a:off x="4809744" y="2743200"/>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Bandit</a:t>
            </a:r>
            <a:endParaRPr lang="en-US" sz="1000" dirty="0"/>
          </a:p>
        </p:txBody>
      </p:sp>
      <p:sp>
        <p:nvSpPr>
          <p:cNvPr id="50" name="Text 48"/>
          <p:cNvSpPr/>
          <p:nvPr/>
        </p:nvSpPr>
        <p:spPr>
          <a:xfrm>
            <a:off x="6126480" y="2743200"/>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Python security lint</a:t>
            </a:r>
            <a:endParaRPr lang="en-US" sz="1000" dirty="0"/>
          </a:p>
        </p:txBody>
      </p:sp>
      <p:sp>
        <p:nvSpPr>
          <p:cNvPr id="51" name="Shape 49"/>
          <p:cNvSpPr/>
          <p:nvPr/>
        </p:nvSpPr>
        <p:spPr>
          <a:xfrm>
            <a:off x="4663440" y="3145536"/>
            <a:ext cx="4206240" cy="384048"/>
          </a:xfrm>
          <a:prstGeom prst="rect">
            <a:avLst/>
          </a:prstGeom>
          <a:solidFill>
            <a:srgbClr val="0B1120"/>
          </a:solidFill>
          <a:ln w="5080">
            <a:solidFill>
              <a:srgbClr val="334155"/>
            </a:solidFill>
            <a:prstDash val="solid"/>
          </a:ln>
        </p:spPr>
        <p:txBody>
          <a:bodyPr/>
          <a:lstStyle/>
          <a:p>
            <a:endParaRPr lang="en-IN" sz="2000"/>
          </a:p>
        </p:txBody>
      </p:sp>
      <p:sp>
        <p:nvSpPr>
          <p:cNvPr id="52" name="Shape 50"/>
          <p:cNvSpPr/>
          <p:nvPr/>
        </p:nvSpPr>
        <p:spPr>
          <a:xfrm>
            <a:off x="4663440" y="3273552"/>
            <a:ext cx="64008" cy="128016"/>
          </a:xfrm>
          <a:prstGeom prst="rect">
            <a:avLst/>
          </a:prstGeom>
          <a:solidFill>
            <a:srgbClr val="10B981"/>
          </a:solidFill>
          <a:ln w="12700">
            <a:solidFill>
              <a:srgbClr val="10B981"/>
            </a:solidFill>
            <a:prstDash val="solid"/>
          </a:ln>
        </p:spPr>
        <p:txBody>
          <a:bodyPr/>
          <a:lstStyle/>
          <a:p>
            <a:endParaRPr lang="en-IN" sz="2000"/>
          </a:p>
        </p:txBody>
      </p:sp>
      <p:sp>
        <p:nvSpPr>
          <p:cNvPr id="53" name="Text 51"/>
          <p:cNvSpPr/>
          <p:nvPr/>
        </p:nvSpPr>
        <p:spPr>
          <a:xfrm>
            <a:off x="4809744" y="3145536"/>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NVD / CVE API</a:t>
            </a:r>
            <a:endParaRPr lang="en-US" sz="1000" dirty="0"/>
          </a:p>
        </p:txBody>
      </p:sp>
      <p:sp>
        <p:nvSpPr>
          <p:cNvPr id="54" name="Text 52"/>
          <p:cNvSpPr/>
          <p:nvPr/>
        </p:nvSpPr>
        <p:spPr>
          <a:xfrm>
            <a:off x="6126480" y="3145536"/>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CVSS scoring, CVE verify</a:t>
            </a:r>
            <a:endParaRPr lang="en-US" sz="1000" dirty="0"/>
          </a:p>
        </p:txBody>
      </p:sp>
      <p:sp>
        <p:nvSpPr>
          <p:cNvPr id="55" name="Shape 53"/>
          <p:cNvSpPr/>
          <p:nvPr/>
        </p:nvSpPr>
        <p:spPr>
          <a:xfrm>
            <a:off x="4663440" y="3547872"/>
            <a:ext cx="4206240" cy="384048"/>
          </a:xfrm>
          <a:prstGeom prst="rect">
            <a:avLst/>
          </a:prstGeom>
          <a:solidFill>
            <a:srgbClr val="1C2B40"/>
          </a:solidFill>
          <a:ln w="5080">
            <a:solidFill>
              <a:srgbClr val="334155"/>
            </a:solidFill>
            <a:prstDash val="solid"/>
          </a:ln>
        </p:spPr>
        <p:txBody>
          <a:bodyPr/>
          <a:lstStyle/>
          <a:p>
            <a:endParaRPr lang="en-IN" sz="2000"/>
          </a:p>
        </p:txBody>
      </p:sp>
      <p:sp>
        <p:nvSpPr>
          <p:cNvPr id="56" name="Shape 54"/>
          <p:cNvSpPr/>
          <p:nvPr/>
        </p:nvSpPr>
        <p:spPr>
          <a:xfrm>
            <a:off x="4663440" y="3675888"/>
            <a:ext cx="64008" cy="128016"/>
          </a:xfrm>
          <a:prstGeom prst="rect">
            <a:avLst/>
          </a:prstGeom>
          <a:solidFill>
            <a:srgbClr val="10B981"/>
          </a:solidFill>
          <a:ln w="12700">
            <a:solidFill>
              <a:srgbClr val="10B981"/>
            </a:solidFill>
            <a:prstDash val="solid"/>
          </a:ln>
        </p:spPr>
        <p:txBody>
          <a:bodyPr/>
          <a:lstStyle/>
          <a:p>
            <a:endParaRPr lang="en-IN" sz="2000"/>
          </a:p>
        </p:txBody>
      </p:sp>
      <p:sp>
        <p:nvSpPr>
          <p:cNvPr id="57" name="Text 55"/>
          <p:cNvSpPr/>
          <p:nvPr/>
        </p:nvSpPr>
        <p:spPr>
          <a:xfrm>
            <a:off x="4809744" y="3547872"/>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GitHub API</a:t>
            </a:r>
            <a:endParaRPr lang="en-US" sz="1000" dirty="0"/>
          </a:p>
        </p:txBody>
      </p:sp>
      <p:sp>
        <p:nvSpPr>
          <p:cNvPr id="58" name="Text 56"/>
          <p:cNvSpPr/>
          <p:nvPr/>
        </p:nvSpPr>
        <p:spPr>
          <a:xfrm>
            <a:off x="6126480" y="3547872"/>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Commit diff &amp; code history</a:t>
            </a:r>
            <a:endParaRPr lang="en-US" sz="1000" dirty="0"/>
          </a:p>
        </p:txBody>
      </p:sp>
      <p:sp>
        <p:nvSpPr>
          <p:cNvPr id="59" name="Shape 57"/>
          <p:cNvSpPr/>
          <p:nvPr/>
        </p:nvSpPr>
        <p:spPr>
          <a:xfrm>
            <a:off x="4663440" y="3950208"/>
            <a:ext cx="4206240" cy="384048"/>
          </a:xfrm>
          <a:prstGeom prst="rect">
            <a:avLst/>
          </a:prstGeom>
          <a:solidFill>
            <a:srgbClr val="0B1120"/>
          </a:solidFill>
          <a:ln w="5080">
            <a:solidFill>
              <a:srgbClr val="334155"/>
            </a:solidFill>
            <a:prstDash val="solid"/>
          </a:ln>
        </p:spPr>
        <p:txBody>
          <a:bodyPr/>
          <a:lstStyle/>
          <a:p>
            <a:endParaRPr lang="en-IN" sz="2000"/>
          </a:p>
        </p:txBody>
      </p:sp>
      <p:sp>
        <p:nvSpPr>
          <p:cNvPr id="60" name="Shape 58"/>
          <p:cNvSpPr/>
          <p:nvPr/>
        </p:nvSpPr>
        <p:spPr>
          <a:xfrm>
            <a:off x="4663440" y="4078224"/>
            <a:ext cx="64008" cy="128016"/>
          </a:xfrm>
          <a:prstGeom prst="rect">
            <a:avLst/>
          </a:prstGeom>
          <a:solidFill>
            <a:srgbClr val="8B5CF6"/>
          </a:solidFill>
          <a:ln w="12700">
            <a:solidFill>
              <a:srgbClr val="8B5CF6"/>
            </a:solidFill>
            <a:prstDash val="solid"/>
          </a:ln>
        </p:spPr>
        <p:txBody>
          <a:bodyPr/>
          <a:lstStyle/>
          <a:p>
            <a:endParaRPr lang="en-IN" sz="2000"/>
          </a:p>
        </p:txBody>
      </p:sp>
      <p:sp>
        <p:nvSpPr>
          <p:cNvPr id="61" name="Text 59"/>
          <p:cNvSpPr/>
          <p:nvPr/>
        </p:nvSpPr>
        <p:spPr>
          <a:xfrm>
            <a:off x="4809744" y="3950208"/>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ChromaDB</a:t>
            </a:r>
            <a:endParaRPr lang="en-US" sz="1000" dirty="0"/>
          </a:p>
        </p:txBody>
      </p:sp>
      <p:sp>
        <p:nvSpPr>
          <p:cNvPr id="62" name="Text 60"/>
          <p:cNvSpPr/>
          <p:nvPr/>
        </p:nvSpPr>
        <p:spPr>
          <a:xfrm>
            <a:off x="6126480" y="3950208"/>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Vector memory, all agents</a:t>
            </a:r>
            <a:endParaRPr lang="en-US" sz="1000" dirty="0"/>
          </a:p>
        </p:txBody>
      </p:sp>
      <p:sp>
        <p:nvSpPr>
          <p:cNvPr id="63" name="Shape 61"/>
          <p:cNvSpPr/>
          <p:nvPr/>
        </p:nvSpPr>
        <p:spPr>
          <a:xfrm>
            <a:off x="4663440" y="4352544"/>
            <a:ext cx="4206240" cy="384048"/>
          </a:xfrm>
          <a:prstGeom prst="rect">
            <a:avLst/>
          </a:prstGeom>
          <a:solidFill>
            <a:srgbClr val="1C2B40"/>
          </a:solidFill>
          <a:ln w="5080">
            <a:solidFill>
              <a:srgbClr val="334155"/>
            </a:solidFill>
            <a:prstDash val="solid"/>
          </a:ln>
        </p:spPr>
        <p:txBody>
          <a:bodyPr/>
          <a:lstStyle/>
          <a:p>
            <a:endParaRPr lang="en-IN" sz="2000"/>
          </a:p>
        </p:txBody>
      </p:sp>
      <p:sp>
        <p:nvSpPr>
          <p:cNvPr id="64" name="Shape 62"/>
          <p:cNvSpPr/>
          <p:nvPr/>
        </p:nvSpPr>
        <p:spPr>
          <a:xfrm>
            <a:off x="4663440" y="4480560"/>
            <a:ext cx="64008" cy="128016"/>
          </a:xfrm>
          <a:prstGeom prst="rect">
            <a:avLst/>
          </a:prstGeom>
          <a:solidFill>
            <a:srgbClr val="CBD5E1"/>
          </a:solidFill>
          <a:ln w="12700">
            <a:solidFill>
              <a:srgbClr val="CBD5E1"/>
            </a:solidFill>
            <a:prstDash val="solid"/>
          </a:ln>
        </p:spPr>
        <p:txBody>
          <a:bodyPr/>
          <a:lstStyle/>
          <a:p>
            <a:endParaRPr lang="en-IN" sz="2000"/>
          </a:p>
        </p:txBody>
      </p:sp>
      <p:sp>
        <p:nvSpPr>
          <p:cNvPr id="65" name="Text 63"/>
          <p:cNvSpPr/>
          <p:nvPr/>
        </p:nvSpPr>
        <p:spPr>
          <a:xfrm>
            <a:off x="4809744" y="4352544"/>
            <a:ext cx="1280160" cy="384048"/>
          </a:xfrm>
          <a:prstGeom prst="rect">
            <a:avLst/>
          </a:prstGeom>
          <a:noFill/>
          <a:ln/>
        </p:spPr>
        <p:txBody>
          <a:bodyPr wrap="square" lIns="0" tIns="0" rIns="0" bIns="0"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Claude API</a:t>
            </a:r>
            <a:endParaRPr lang="en-US" sz="1000" dirty="0"/>
          </a:p>
        </p:txBody>
      </p:sp>
      <p:sp>
        <p:nvSpPr>
          <p:cNvPr id="66" name="Text 64"/>
          <p:cNvSpPr/>
          <p:nvPr/>
        </p:nvSpPr>
        <p:spPr>
          <a:xfrm>
            <a:off x="6126480" y="4352544"/>
            <a:ext cx="2651760" cy="384048"/>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Reasoning &amp; patch generation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120"/>
          </a:solidFill>
          <a:ln w="12700">
            <a:solidFill>
              <a:srgbClr val="0B1120"/>
            </a:solidFill>
            <a:prstDash val="solid"/>
          </a:ln>
        </p:spPr>
        <p:txBody>
          <a:bodyPr/>
          <a:lstStyle/>
          <a:p>
            <a:endParaRPr lang="en-IN"/>
          </a:p>
        </p:txBody>
      </p:sp>
      <p:sp>
        <p:nvSpPr>
          <p:cNvPr id="3" name="Shape 1"/>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IN"/>
          </a:p>
        </p:txBody>
      </p:sp>
      <p:sp>
        <p:nvSpPr>
          <p:cNvPr id="4" name="Text 2"/>
          <p:cNvSpPr/>
          <p:nvPr/>
        </p:nvSpPr>
        <p:spPr>
          <a:xfrm>
            <a:off x="347472" y="128016"/>
            <a:ext cx="6400800" cy="420624"/>
          </a:xfrm>
          <a:prstGeom prst="rect">
            <a:avLst/>
          </a:prstGeom>
          <a:noFill/>
          <a:ln/>
        </p:spPr>
        <p:txBody>
          <a:bodyPr wrap="square" lIns="0" tIns="0" rIns="0" bIns="0" rtlCol="0" anchor="ctr"/>
          <a:lstStyle/>
          <a:p>
            <a:pPr marL="0" indent="0" algn="l">
              <a:buNone/>
            </a:pPr>
            <a:r>
              <a:rPr lang="en-US" sz="2600" b="1" dirty="0">
                <a:solidFill>
                  <a:srgbClr val="F8FAFC"/>
                </a:solidFill>
                <a:latin typeface="Georgia" pitchFamily="34" charset="0"/>
                <a:ea typeface="Georgia" pitchFamily="34" charset="-122"/>
                <a:cs typeface="Georgia" pitchFamily="34" charset="-120"/>
              </a:rPr>
              <a:t>Why PHANTOM Wins</a:t>
            </a:r>
            <a:endParaRPr lang="en-US" sz="2600" dirty="0"/>
          </a:p>
        </p:txBody>
      </p:sp>
      <p:sp>
        <p:nvSpPr>
          <p:cNvPr id="5" name="Text 3"/>
          <p:cNvSpPr/>
          <p:nvPr/>
        </p:nvSpPr>
        <p:spPr>
          <a:xfrm>
            <a:off x="347472" y="566928"/>
            <a:ext cx="8229600" cy="256032"/>
          </a:xfrm>
          <a:prstGeom prst="rect">
            <a:avLst/>
          </a:prstGeom>
          <a:noFill/>
          <a:ln/>
        </p:spPr>
        <p:txBody>
          <a:bodyPr wrap="square" lIns="0" tIns="0" rIns="0" bIns="0" rtlCol="0" anchor="ctr"/>
          <a:lstStyle/>
          <a:p>
            <a:pPr marL="0" indent="0" algn="l">
              <a:buNone/>
            </a:pPr>
            <a:r>
              <a:rPr lang="en-US" sz="1100" i="1" dirty="0">
                <a:solidFill>
                  <a:srgbClr val="CBD5E1"/>
                </a:solidFill>
                <a:latin typeface="Calibri" pitchFamily="34" charset="0"/>
                <a:ea typeface="Calibri" pitchFamily="34" charset="-122"/>
                <a:cs typeface="Calibri" pitchFamily="34" charset="-120"/>
              </a:rPr>
              <a:t>Measurable value across cost, speed, compliance, and accessibility</a:t>
            </a:r>
            <a:endParaRPr lang="en-US" sz="1100" dirty="0"/>
          </a:p>
        </p:txBody>
      </p:sp>
      <p:sp>
        <p:nvSpPr>
          <p:cNvPr id="6" name="Shape 4"/>
          <p:cNvSpPr/>
          <p:nvPr/>
        </p:nvSpPr>
        <p:spPr>
          <a:xfrm>
            <a:off x="256032" y="1042416"/>
            <a:ext cx="2304288" cy="329184"/>
          </a:xfrm>
          <a:prstGeom prst="rect">
            <a:avLst/>
          </a:prstGeom>
          <a:solidFill>
            <a:srgbClr val="0B1120"/>
          </a:solidFill>
          <a:ln w="6350">
            <a:solidFill>
              <a:srgbClr val="334155"/>
            </a:solidFill>
            <a:prstDash val="solid"/>
          </a:ln>
        </p:spPr>
        <p:txBody>
          <a:bodyPr/>
          <a:lstStyle/>
          <a:p>
            <a:endParaRPr lang="en-IN" sz="3200"/>
          </a:p>
        </p:txBody>
      </p:sp>
      <p:sp>
        <p:nvSpPr>
          <p:cNvPr id="7" name="Text 5"/>
          <p:cNvSpPr/>
          <p:nvPr/>
        </p:nvSpPr>
        <p:spPr>
          <a:xfrm>
            <a:off x="256032" y="1042416"/>
            <a:ext cx="2304288" cy="329184"/>
          </a:xfrm>
          <a:prstGeom prst="rect">
            <a:avLst/>
          </a:prstGeom>
          <a:noFill/>
          <a:ln/>
        </p:spPr>
        <p:txBody>
          <a:bodyPr wrap="square" lIns="0" tIns="0" rIns="0" bIns="0" rtlCol="0" anchor="ctr"/>
          <a:lstStyle/>
          <a:p>
            <a:pPr marL="0" indent="0" algn="ctr">
              <a:buNone/>
            </a:pPr>
            <a:r>
              <a:rPr lang="en-US" sz="1400" b="1" dirty="0">
                <a:solidFill>
                  <a:srgbClr val="CBD5E1"/>
                </a:solidFill>
                <a:latin typeface="Georgia" pitchFamily="34" charset="0"/>
                <a:ea typeface="Georgia" pitchFamily="34" charset="-122"/>
                <a:cs typeface="Georgia" pitchFamily="34" charset="-120"/>
              </a:rPr>
              <a:t>Capability</a:t>
            </a:r>
            <a:endParaRPr lang="en-US" sz="1400" dirty="0"/>
          </a:p>
        </p:txBody>
      </p:sp>
      <p:sp>
        <p:nvSpPr>
          <p:cNvPr id="8" name="Shape 6"/>
          <p:cNvSpPr/>
          <p:nvPr/>
        </p:nvSpPr>
        <p:spPr>
          <a:xfrm>
            <a:off x="2633472" y="1042416"/>
            <a:ext cx="2395728" cy="329184"/>
          </a:xfrm>
          <a:prstGeom prst="rect">
            <a:avLst/>
          </a:prstGeom>
          <a:solidFill>
            <a:srgbClr val="451A1A"/>
          </a:solidFill>
          <a:ln w="6350">
            <a:solidFill>
              <a:srgbClr val="334155"/>
            </a:solidFill>
            <a:prstDash val="solid"/>
          </a:ln>
        </p:spPr>
        <p:txBody>
          <a:bodyPr/>
          <a:lstStyle/>
          <a:p>
            <a:endParaRPr lang="en-IN" sz="3200"/>
          </a:p>
        </p:txBody>
      </p:sp>
      <p:sp>
        <p:nvSpPr>
          <p:cNvPr id="9" name="Text 7"/>
          <p:cNvSpPr/>
          <p:nvPr/>
        </p:nvSpPr>
        <p:spPr>
          <a:xfrm>
            <a:off x="2633472" y="1042416"/>
            <a:ext cx="2395728" cy="329184"/>
          </a:xfrm>
          <a:prstGeom prst="rect">
            <a:avLst/>
          </a:prstGeom>
          <a:noFill/>
          <a:ln/>
        </p:spPr>
        <p:txBody>
          <a:bodyPr wrap="square" lIns="0" tIns="0" rIns="0" bIns="0" rtlCol="0" anchor="ctr"/>
          <a:lstStyle/>
          <a:p>
            <a:pPr marL="0" indent="0" algn="ctr">
              <a:buNone/>
            </a:pPr>
            <a:r>
              <a:rPr lang="en-US" sz="1400" b="1" dirty="0">
                <a:solidFill>
                  <a:srgbClr val="F87171"/>
                </a:solidFill>
                <a:latin typeface="Georgia" pitchFamily="34" charset="0"/>
                <a:ea typeface="Georgia" pitchFamily="34" charset="-122"/>
                <a:cs typeface="Georgia" pitchFamily="34" charset="-120"/>
              </a:rPr>
              <a:t>External Agency</a:t>
            </a:r>
            <a:endParaRPr lang="en-US" sz="1400" dirty="0"/>
          </a:p>
        </p:txBody>
      </p:sp>
      <p:sp>
        <p:nvSpPr>
          <p:cNvPr id="10" name="Shape 8"/>
          <p:cNvSpPr/>
          <p:nvPr/>
        </p:nvSpPr>
        <p:spPr>
          <a:xfrm>
            <a:off x="5102352" y="1042416"/>
            <a:ext cx="2231136" cy="329184"/>
          </a:xfrm>
          <a:prstGeom prst="rect">
            <a:avLst/>
          </a:prstGeom>
          <a:solidFill>
            <a:srgbClr val="1A1A10"/>
          </a:solidFill>
          <a:ln w="6350">
            <a:solidFill>
              <a:srgbClr val="334155"/>
            </a:solidFill>
            <a:prstDash val="solid"/>
          </a:ln>
        </p:spPr>
        <p:txBody>
          <a:bodyPr/>
          <a:lstStyle/>
          <a:p>
            <a:endParaRPr lang="en-IN" sz="3200"/>
          </a:p>
        </p:txBody>
      </p:sp>
      <p:sp>
        <p:nvSpPr>
          <p:cNvPr id="11" name="Text 9"/>
          <p:cNvSpPr/>
          <p:nvPr/>
        </p:nvSpPr>
        <p:spPr>
          <a:xfrm>
            <a:off x="5102352" y="1042416"/>
            <a:ext cx="2231136" cy="329184"/>
          </a:xfrm>
          <a:prstGeom prst="rect">
            <a:avLst/>
          </a:prstGeom>
          <a:noFill/>
          <a:ln/>
        </p:spPr>
        <p:txBody>
          <a:bodyPr wrap="square" lIns="0" tIns="0" rIns="0" bIns="0" rtlCol="0" anchor="ctr"/>
          <a:lstStyle/>
          <a:p>
            <a:pPr marL="0" indent="0" algn="ctr">
              <a:buNone/>
            </a:pPr>
            <a:r>
              <a:rPr lang="en-US" sz="1400" b="1" dirty="0">
                <a:solidFill>
                  <a:srgbClr val="FDE68A"/>
                </a:solidFill>
                <a:latin typeface="Georgia" pitchFamily="34" charset="0"/>
                <a:ea typeface="Georgia" pitchFamily="34" charset="-122"/>
                <a:cs typeface="Georgia" pitchFamily="34" charset="-120"/>
              </a:rPr>
              <a:t>Internal IT Dept.</a:t>
            </a:r>
            <a:endParaRPr lang="en-US" sz="1400" dirty="0"/>
          </a:p>
        </p:txBody>
      </p:sp>
      <p:sp>
        <p:nvSpPr>
          <p:cNvPr id="12" name="Shape 10"/>
          <p:cNvSpPr/>
          <p:nvPr/>
        </p:nvSpPr>
        <p:spPr>
          <a:xfrm>
            <a:off x="7388352" y="1042416"/>
            <a:ext cx="1572768" cy="329184"/>
          </a:xfrm>
          <a:prstGeom prst="rect">
            <a:avLst/>
          </a:prstGeom>
          <a:solidFill>
            <a:srgbClr val="2563EB"/>
          </a:solidFill>
          <a:ln w="6350">
            <a:solidFill>
              <a:srgbClr val="334155"/>
            </a:solidFill>
            <a:prstDash val="solid"/>
          </a:ln>
        </p:spPr>
        <p:txBody>
          <a:bodyPr/>
          <a:lstStyle/>
          <a:p>
            <a:endParaRPr lang="en-IN" sz="3200"/>
          </a:p>
        </p:txBody>
      </p:sp>
      <p:sp>
        <p:nvSpPr>
          <p:cNvPr id="13" name="Text 11"/>
          <p:cNvSpPr/>
          <p:nvPr/>
        </p:nvSpPr>
        <p:spPr>
          <a:xfrm>
            <a:off x="7388352" y="1042416"/>
            <a:ext cx="1572768" cy="329184"/>
          </a:xfrm>
          <a:prstGeom prst="rect">
            <a:avLst/>
          </a:prstGeom>
          <a:noFill/>
          <a:ln/>
        </p:spPr>
        <p:txBody>
          <a:bodyPr wrap="square" lIns="0" tIns="0" rIns="0" bIns="0" rtlCol="0" anchor="ctr"/>
          <a:lstStyle/>
          <a:p>
            <a:pPr marL="0" indent="0" algn="ctr">
              <a:buNone/>
            </a:pPr>
            <a:r>
              <a:rPr lang="en-US" sz="1400" b="1" dirty="0">
                <a:solidFill>
                  <a:srgbClr val="F8FAFC"/>
                </a:solidFill>
                <a:latin typeface="Georgia" pitchFamily="34" charset="0"/>
                <a:ea typeface="Georgia" pitchFamily="34" charset="-122"/>
                <a:cs typeface="Georgia" pitchFamily="34" charset="-120"/>
              </a:rPr>
              <a:t>PHANTOM</a:t>
            </a:r>
            <a:endParaRPr lang="en-US" sz="1400" dirty="0"/>
          </a:p>
        </p:txBody>
      </p:sp>
      <p:sp>
        <p:nvSpPr>
          <p:cNvPr id="14" name="Shape 12"/>
          <p:cNvSpPr/>
          <p:nvPr/>
        </p:nvSpPr>
        <p:spPr>
          <a:xfrm>
            <a:off x="256032" y="1371600"/>
            <a:ext cx="2304288" cy="347472"/>
          </a:xfrm>
          <a:prstGeom prst="rect">
            <a:avLst/>
          </a:prstGeom>
          <a:solidFill>
            <a:srgbClr val="EEF2FF"/>
          </a:solidFill>
          <a:ln w="5080">
            <a:solidFill>
              <a:srgbClr val="E2E8F0"/>
            </a:solidFill>
            <a:prstDash val="solid"/>
          </a:ln>
        </p:spPr>
        <p:txBody>
          <a:bodyPr/>
          <a:lstStyle/>
          <a:p>
            <a:endParaRPr lang="en-IN" sz="3200"/>
          </a:p>
        </p:txBody>
      </p:sp>
      <p:sp>
        <p:nvSpPr>
          <p:cNvPr id="15" name="Text 13"/>
          <p:cNvSpPr/>
          <p:nvPr/>
        </p:nvSpPr>
        <p:spPr>
          <a:xfrm>
            <a:off x="347472" y="1371600"/>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Cost per assessment</a:t>
            </a:r>
            <a:endParaRPr lang="en-US" sz="1200" dirty="0"/>
          </a:p>
        </p:txBody>
      </p:sp>
      <p:sp>
        <p:nvSpPr>
          <p:cNvPr id="16" name="Shape 14"/>
          <p:cNvSpPr/>
          <p:nvPr/>
        </p:nvSpPr>
        <p:spPr>
          <a:xfrm>
            <a:off x="2633472" y="1371600"/>
            <a:ext cx="2395728" cy="347472"/>
          </a:xfrm>
          <a:prstGeom prst="rect">
            <a:avLst/>
          </a:prstGeom>
          <a:solidFill>
            <a:srgbClr val="451A1A"/>
          </a:solidFill>
          <a:ln w="5080">
            <a:solidFill>
              <a:srgbClr val="E2E8F0"/>
            </a:solidFill>
            <a:prstDash val="solid"/>
          </a:ln>
        </p:spPr>
        <p:txBody>
          <a:bodyPr/>
          <a:lstStyle/>
          <a:p>
            <a:endParaRPr lang="en-IN" sz="3200"/>
          </a:p>
        </p:txBody>
      </p:sp>
      <p:sp>
        <p:nvSpPr>
          <p:cNvPr id="17" name="Text 15"/>
          <p:cNvSpPr/>
          <p:nvPr/>
        </p:nvSpPr>
        <p:spPr>
          <a:xfrm>
            <a:off x="2724912" y="1371600"/>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₹50K – ₹5L</a:t>
            </a:r>
            <a:endParaRPr lang="en-US" sz="1200" dirty="0"/>
          </a:p>
        </p:txBody>
      </p:sp>
      <p:sp>
        <p:nvSpPr>
          <p:cNvPr id="18" name="Shape 16"/>
          <p:cNvSpPr/>
          <p:nvPr/>
        </p:nvSpPr>
        <p:spPr>
          <a:xfrm>
            <a:off x="5102352" y="1371600"/>
            <a:ext cx="2231136" cy="347472"/>
          </a:xfrm>
          <a:prstGeom prst="rect">
            <a:avLst/>
          </a:prstGeom>
          <a:solidFill>
            <a:srgbClr val="1A1A10"/>
          </a:solidFill>
          <a:ln w="5080">
            <a:solidFill>
              <a:srgbClr val="E2E8F0"/>
            </a:solidFill>
            <a:prstDash val="solid"/>
          </a:ln>
        </p:spPr>
        <p:txBody>
          <a:bodyPr/>
          <a:lstStyle/>
          <a:p>
            <a:endParaRPr lang="en-IN" sz="3200"/>
          </a:p>
        </p:txBody>
      </p:sp>
      <p:sp>
        <p:nvSpPr>
          <p:cNvPr id="19" name="Text 17"/>
          <p:cNvSpPr/>
          <p:nvPr/>
        </p:nvSpPr>
        <p:spPr>
          <a:xfrm>
            <a:off x="5193792" y="1371600"/>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Staff time only</a:t>
            </a:r>
            <a:endParaRPr lang="en-US" sz="1200" dirty="0"/>
          </a:p>
        </p:txBody>
      </p:sp>
      <p:sp>
        <p:nvSpPr>
          <p:cNvPr id="20" name="Shape 18"/>
          <p:cNvSpPr/>
          <p:nvPr/>
        </p:nvSpPr>
        <p:spPr>
          <a:xfrm>
            <a:off x="7388352" y="1371600"/>
            <a:ext cx="1572768" cy="347472"/>
          </a:xfrm>
          <a:prstGeom prst="rect">
            <a:avLst/>
          </a:prstGeom>
          <a:solidFill>
            <a:srgbClr val="DBEAFE"/>
          </a:solidFill>
          <a:ln w="5080">
            <a:solidFill>
              <a:srgbClr val="E2E8F0"/>
            </a:solidFill>
            <a:prstDash val="solid"/>
          </a:ln>
        </p:spPr>
        <p:txBody>
          <a:bodyPr/>
          <a:lstStyle/>
          <a:p>
            <a:endParaRPr lang="en-IN" sz="3200"/>
          </a:p>
        </p:txBody>
      </p:sp>
      <p:sp>
        <p:nvSpPr>
          <p:cNvPr id="21" name="Text 19"/>
          <p:cNvSpPr/>
          <p:nvPr/>
        </p:nvSpPr>
        <p:spPr>
          <a:xfrm>
            <a:off x="7479792" y="1371600"/>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API costs only</a:t>
            </a:r>
            <a:endParaRPr lang="en-US" sz="1200" dirty="0"/>
          </a:p>
        </p:txBody>
      </p:sp>
      <p:sp>
        <p:nvSpPr>
          <p:cNvPr id="22" name="Shape 20"/>
          <p:cNvSpPr/>
          <p:nvPr/>
        </p:nvSpPr>
        <p:spPr>
          <a:xfrm>
            <a:off x="256032" y="1719072"/>
            <a:ext cx="2304288" cy="347472"/>
          </a:xfrm>
          <a:prstGeom prst="rect">
            <a:avLst/>
          </a:prstGeom>
          <a:solidFill>
            <a:srgbClr val="F8FAFC"/>
          </a:solidFill>
          <a:ln w="5080">
            <a:solidFill>
              <a:srgbClr val="E2E8F0"/>
            </a:solidFill>
            <a:prstDash val="solid"/>
          </a:ln>
        </p:spPr>
        <p:txBody>
          <a:bodyPr/>
          <a:lstStyle/>
          <a:p>
            <a:endParaRPr lang="en-IN" sz="3200"/>
          </a:p>
        </p:txBody>
      </p:sp>
      <p:sp>
        <p:nvSpPr>
          <p:cNvPr id="23" name="Text 21"/>
          <p:cNvSpPr/>
          <p:nvPr/>
        </p:nvSpPr>
        <p:spPr>
          <a:xfrm>
            <a:off x="347472" y="1719072"/>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Time to first finding</a:t>
            </a:r>
            <a:endParaRPr lang="en-US" sz="1200" dirty="0"/>
          </a:p>
        </p:txBody>
      </p:sp>
      <p:sp>
        <p:nvSpPr>
          <p:cNvPr id="24" name="Shape 22"/>
          <p:cNvSpPr/>
          <p:nvPr/>
        </p:nvSpPr>
        <p:spPr>
          <a:xfrm>
            <a:off x="2633472" y="1719072"/>
            <a:ext cx="2395728" cy="347472"/>
          </a:xfrm>
          <a:prstGeom prst="rect">
            <a:avLst/>
          </a:prstGeom>
          <a:solidFill>
            <a:srgbClr val="330E0E"/>
          </a:solidFill>
          <a:ln w="5080">
            <a:solidFill>
              <a:srgbClr val="E2E8F0"/>
            </a:solidFill>
            <a:prstDash val="solid"/>
          </a:ln>
        </p:spPr>
        <p:txBody>
          <a:bodyPr/>
          <a:lstStyle/>
          <a:p>
            <a:endParaRPr lang="en-IN" sz="3200"/>
          </a:p>
        </p:txBody>
      </p:sp>
      <p:sp>
        <p:nvSpPr>
          <p:cNvPr id="25" name="Text 23"/>
          <p:cNvSpPr/>
          <p:nvPr/>
        </p:nvSpPr>
        <p:spPr>
          <a:xfrm>
            <a:off x="2724912" y="1719072"/>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3–10 days</a:t>
            </a:r>
            <a:endParaRPr lang="en-US" sz="1200" dirty="0"/>
          </a:p>
        </p:txBody>
      </p:sp>
      <p:sp>
        <p:nvSpPr>
          <p:cNvPr id="26" name="Shape 24"/>
          <p:cNvSpPr/>
          <p:nvPr/>
        </p:nvSpPr>
        <p:spPr>
          <a:xfrm>
            <a:off x="5102352" y="1719072"/>
            <a:ext cx="2231136" cy="347472"/>
          </a:xfrm>
          <a:prstGeom prst="rect">
            <a:avLst/>
          </a:prstGeom>
          <a:solidFill>
            <a:srgbClr val="111107"/>
          </a:solidFill>
          <a:ln w="5080">
            <a:solidFill>
              <a:srgbClr val="E2E8F0"/>
            </a:solidFill>
            <a:prstDash val="solid"/>
          </a:ln>
        </p:spPr>
        <p:txBody>
          <a:bodyPr/>
          <a:lstStyle/>
          <a:p>
            <a:endParaRPr lang="en-IN" sz="3200"/>
          </a:p>
        </p:txBody>
      </p:sp>
      <p:sp>
        <p:nvSpPr>
          <p:cNvPr id="27" name="Text 25"/>
          <p:cNvSpPr/>
          <p:nvPr/>
        </p:nvSpPr>
        <p:spPr>
          <a:xfrm>
            <a:off x="5193792" y="1719072"/>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1–3 weeks</a:t>
            </a:r>
            <a:endParaRPr lang="en-US" sz="1200" dirty="0"/>
          </a:p>
        </p:txBody>
      </p:sp>
      <p:sp>
        <p:nvSpPr>
          <p:cNvPr id="28" name="Shape 26"/>
          <p:cNvSpPr/>
          <p:nvPr/>
        </p:nvSpPr>
        <p:spPr>
          <a:xfrm>
            <a:off x="7388352" y="1719072"/>
            <a:ext cx="1572768" cy="347472"/>
          </a:xfrm>
          <a:prstGeom prst="rect">
            <a:avLst/>
          </a:prstGeom>
          <a:solidFill>
            <a:srgbClr val="EFF6FF"/>
          </a:solidFill>
          <a:ln w="5080">
            <a:solidFill>
              <a:srgbClr val="E2E8F0"/>
            </a:solidFill>
            <a:prstDash val="solid"/>
          </a:ln>
        </p:spPr>
        <p:txBody>
          <a:bodyPr/>
          <a:lstStyle/>
          <a:p>
            <a:endParaRPr lang="en-IN" sz="3200"/>
          </a:p>
        </p:txBody>
      </p:sp>
      <p:sp>
        <p:nvSpPr>
          <p:cNvPr id="29" name="Text 27"/>
          <p:cNvSpPr/>
          <p:nvPr/>
        </p:nvSpPr>
        <p:spPr>
          <a:xfrm>
            <a:off x="7479792" y="1719072"/>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&lt; 2 hours</a:t>
            </a:r>
            <a:endParaRPr lang="en-US" sz="1200" dirty="0"/>
          </a:p>
        </p:txBody>
      </p:sp>
      <p:sp>
        <p:nvSpPr>
          <p:cNvPr id="30" name="Shape 28"/>
          <p:cNvSpPr/>
          <p:nvPr/>
        </p:nvSpPr>
        <p:spPr>
          <a:xfrm>
            <a:off x="256032" y="2066544"/>
            <a:ext cx="2304288" cy="347472"/>
          </a:xfrm>
          <a:prstGeom prst="rect">
            <a:avLst/>
          </a:prstGeom>
          <a:solidFill>
            <a:srgbClr val="EEF2FF"/>
          </a:solidFill>
          <a:ln w="5080">
            <a:solidFill>
              <a:srgbClr val="E2E8F0"/>
            </a:solidFill>
            <a:prstDash val="solid"/>
          </a:ln>
        </p:spPr>
        <p:txBody>
          <a:bodyPr/>
          <a:lstStyle/>
          <a:p>
            <a:endParaRPr lang="en-IN" sz="3200"/>
          </a:p>
        </p:txBody>
      </p:sp>
      <p:sp>
        <p:nvSpPr>
          <p:cNvPr id="31" name="Text 29"/>
          <p:cNvSpPr/>
          <p:nvPr/>
        </p:nvSpPr>
        <p:spPr>
          <a:xfrm>
            <a:off x="347472" y="2066544"/>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Available</a:t>
            </a:r>
            <a:endParaRPr lang="en-US" sz="1200" dirty="0"/>
          </a:p>
        </p:txBody>
      </p:sp>
      <p:sp>
        <p:nvSpPr>
          <p:cNvPr id="32" name="Shape 30"/>
          <p:cNvSpPr/>
          <p:nvPr/>
        </p:nvSpPr>
        <p:spPr>
          <a:xfrm>
            <a:off x="2633472" y="2066544"/>
            <a:ext cx="2395728" cy="347472"/>
          </a:xfrm>
          <a:prstGeom prst="rect">
            <a:avLst/>
          </a:prstGeom>
          <a:solidFill>
            <a:srgbClr val="451A1A"/>
          </a:solidFill>
          <a:ln w="5080">
            <a:solidFill>
              <a:srgbClr val="E2E8F0"/>
            </a:solidFill>
            <a:prstDash val="solid"/>
          </a:ln>
        </p:spPr>
        <p:txBody>
          <a:bodyPr/>
          <a:lstStyle/>
          <a:p>
            <a:endParaRPr lang="en-IN" sz="3200"/>
          </a:p>
        </p:txBody>
      </p:sp>
      <p:sp>
        <p:nvSpPr>
          <p:cNvPr id="33" name="Text 31"/>
          <p:cNvSpPr/>
          <p:nvPr/>
        </p:nvSpPr>
        <p:spPr>
          <a:xfrm>
            <a:off x="2724912" y="2066544"/>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On engagement</a:t>
            </a:r>
            <a:endParaRPr lang="en-US" sz="1200" dirty="0"/>
          </a:p>
        </p:txBody>
      </p:sp>
      <p:sp>
        <p:nvSpPr>
          <p:cNvPr id="34" name="Shape 32"/>
          <p:cNvSpPr/>
          <p:nvPr/>
        </p:nvSpPr>
        <p:spPr>
          <a:xfrm>
            <a:off x="5102352" y="2066544"/>
            <a:ext cx="2231136" cy="347472"/>
          </a:xfrm>
          <a:prstGeom prst="rect">
            <a:avLst/>
          </a:prstGeom>
          <a:solidFill>
            <a:srgbClr val="1A1A10"/>
          </a:solidFill>
          <a:ln w="5080">
            <a:solidFill>
              <a:srgbClr val="E2E8F0"/>
            </a:solidFill>
            <a:prstDash val="solid"/>
          </a:ln>
        </p:spPr>
        <p:txBody>
          <a:bodyPr/>
          <a:lstStyle/>
          <a:p>
            <a:endParaRPr lang="en-IN" sz="3200"/>
          </a:p>
        </p:txBody>
      </p:sp>
      <p:sp>
        <p:nvSpPr>
          <p:cNvPr id="35" name="Text 33"/>
          <p:cNvSpPr/>
          <p:nvPr/>
        </p:nvSpPr>
        <p:spPr>
          <a:xfrm>
            <a:off x="5193792" y="2066544"/>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Business hours</a:t>
            </a:r>
            <a:endParaRPr lang="en-US" sz="1200" dirty="0"/>
          </a:p>
        </p:txBody>
      </p:sp>
      <p:sp>
        <p:nvSpPr>
          <p:cNvPr id="36" name="Shape 34"/>
          <p:cNvSpPr/>
          <p:nvPr/>
        </p:nvSpPr>
        <p:spPr>
          <a:xfrm>
            <a:off x="7388352" y="2066544"/>
            <a:ext cx="1572768" cy="347472"/>
          </a:xfrm>
          <a:prstGeom prst="rect">
            <a:avLst/>
          </a:prstGeom>
          <a:solidFill>
            <a:srgbClr val="DBEAFE"/>
          </a:solidFill>
          <a:ln w="5080">
            <a:solidFill>
              <a:srgbClr val="E2E8F0"/>
            </a:solidFill>
            <a:prstDash val="solid"/>
          </a:ln>
        </p:spPr>
        <p:txBody>
          <a:bodyPr/>
          <a:lstStyle/>
          <a:p>
            <a:endParaRPr lang="en-IN" sz="3200"/>
          </a:p>
        </p:txBody>
      </p:sp>
      <p:sp>
        <p:nvSpPr>
          <p:cNvPr id="37" name="Text 35"/>
          <p:cNvSpPr/>
          <p:nvPr/>
        </p:nvSpPr>
        <p:spPr>
          <a:xfrm>
            <a:off x="7479792" y="2066544"/>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24/7 automated</a:t>
            </a:r>
            <a:endParaRPr lang="en-US" sz="1200" dirty="0"/>
          </a:p>
        </p:txBody>
      </p:sp>
      <p:sp>
        <p:nvSpPr>
          <p:cNvPr id="38" name="Shape 36"/>
          <p:cNvSpPr/>
          <p:nvPr/>
        </p:nvSpPr>
        <p:spPr>
          <a:xfrm>
            <a:off x="256032" y="2414016"/>
            <a:ext cx="2304288" cy="347472"/>
          </a:xfrm>
          <a:prstGeom prst="rect">
            <a:avLst/>
          </a:prstGeom>
          <a:solidFill>
            <a:srgbClr val="F8FAFC"/>
          </a:solidFill>
          <a:ln w="5080">
            <a:solidFill>
              <a:srgbClr val="E2E8F0"/>
            </a:solidFill>
            <a:prstDash val="solid"/>
          </a:ln>
        </p:spPr>
        <p:txBody>
          <a:bodyPr/>
          <a:lstStyle/>
          <a:p>
            <a:endParaRPr lang="en-IN" sz="3200"/>
          </a:p>
        </p:txBody>
      </p:sp>
      <p:sp>
        <p:nvSpPr>
          <p:cNvPr id="39" name="Text 37"/>
          <p:cNvSpPr/>
          <p:nvPr/>
        </p:nvSpPr>
        <p:spPr>
          <a:xfrm>
            <a:off x="347472" y="2414016"/>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Black box testing</a:t>
            </a:r>
            <a:endParaRPr lang="en-US" sz="1200" dirty="0"/>
          </a:p>
        </p:txBody>
      </p:sp>
      <p:sp>
        <p:nvSpPr>
          <p:cNvPr id="40" name="Shape 38"/>
          <p:cNvSpPr/>
          <p:nvPr/>
        </p:nvSpPr>
        <p:spPr>
          <a:xfrm>
            <a:off x="2633472" y="2414016"/>
            <a:ext cx="2395728" cy="347472"/>
          </a:xfrm>
          <a:prstGeom prst="rect">
            <a:avLst/>
          </a:prstGeom>
          <a:solidFill>
            <a:srgbClr val="330E0E"/>
          </a:solidFill>
          <a:ln w="5080">
            <a:solidFill>
              <a:srgbClr val="E2E8F0"/>
            </a:solidFill>
            <a:prstDash val="solid"/>
          </a:ln>
        </p:spPr>
        <p:txBody>
          <a:bodyPr/>
          <a:lstStyle/>
          <a:p>
            <a:endParaRPr lang="en-IN" sz="3200"/>
          </a:p>
        </p:txBody>
      </p:sp>
      <p:sp>
        <p:nvSpPr>
          <p:cNvPr id="41" name="Text 39"/>
          <p:cNvSpPr/>
          <p:nvPr/>
        </p:nvSpPr>
        <p:spPr>
          <a:xfrm>
            <a:off x="2724912" y="2414016"/>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Yes</a:t>
            </a:r>
            <a:endParaRPr lang="en-US" sz="1200" dirty="0"/>
          </a:p>
        </p:txBody>
      </p:sp>
      <p:sp>
        <p:nvSpPr>
          <p:cNvPr id="42" name="Shape 40"/>
          <p:cNvSpPr/>
          <p:nvPr/>
        </p:nvSpPr>
        <p:spPr>
          <a:xfrm>
            <a:off x="5102352" y="2414016"/>
            <a:ext cx="2231136" cy="347472"/>
          </a:xfrm>
          <a:prstGeom prst="rect">
            <a:avLst/>
          </a:prstGeom>
          <a:solidFill>
            <a:srgbClr val="111107"/>
          </a:solidFill>
          <a:ln w="5080">
            <a:solidFill>
              <a:srgbClr val="E2E8F0"/>
            </a:solidFill>
            <a:prstDash val="solid"/>
          </a:ln>
        </p:spPr>
        <p:txBody>
          <a:bodyPr/>
          <a:lstStyle/>
          <a:p>
            <a:endParaRPr lang="en-IN" sz="3200"/>
          </a:p>
        </p:txBody>
      </p:sp>
      <p:sp>
        <p:nvSpPr>
          <p:cNvPr id="43" name="Text 41"/>
          <p:cNvSpPr/>
          <p:nvPr/>
        </p:nvSpPr>
        <p:spPr>
          <a:xfrm>
            <a:off x="5193792" y="2414016"/>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Rarely</a:t>
            </a:r>
            <a:endParaRPr lang="en-US" sz="1200" dirty="0"/>
          </a:p>
        </p:txBody>
      </p:sp>
      <p:sp>
        <p:nvSpPr>
          <p:cNvPr id="44" name="Shape 42"/>
          <p:cNvSpPr/>
          <p:nvPr/>
        </p:nvSpPr>
        <p:spPr>
          <a:xfrm>
            <a:off x="7388352" y="2414016"/>
            <a:ext cx="1572768" cy="347472"/>
          </a:xfrm>
          <a:prstGeom prst="rect">
            <a:avLst/>
          </a:prstGeom>
          <a:solidFill>
            <a:srgbClr val="EFF6FF"/>
          </a:solidFill>
          <a:ln w="5080">
            <a:solidFill>
              <a:srgbClr val="E2E8F0"/>
            </a:solidFill>
            <a:prstDash val="solid"/>
          </a:ln>
        </p:spPr>
        <p:txBody>
          <a:bodyPr/>
          <a:lstStyle/>
          <a:p>
            <a:endParaRPr lang="en-IN" sz="3200"/>
          </a:p>
        </p:txBody>
      </p:sp>
      <p:sp>
        <p:nvSpPr>
          <p:cNvPr id="45" name="Text 43"/>
          <p:cNvSpPr/>
          <p:nvPr/>
        </p:nvSpPr>
        <p:spPr>
          <a:xfrm>
            <a:off x="7479792" y="2414016"/>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Yes</a:t>
            </a:r>
            <a:endParaRPr lang="en-US" sz="1200" dirty="0"/>
          </a:p>
        </p:txBody>
      </p:sp>
      <p:sp>
        <p:nvSpPr>
          <p:cNvPr id="46" name="Shape 44"/>
          <p:cNvSpPr/>
          <p:nvPr/>
        </p:nvSpPr>
        <p:spPr>
          <a:xfrm>
            <a:off x="256032" y="2761488"/>
            <a:ext cx="2304288" cy="347472"/>
          </a:xfrm>
          <a:prstGeom prst="rect">
            <a:avLst/>
          </a:prstGeom>
          <a:solidFill>
            <a:srgbClr val="EEF2FF"/>
          </a:solidFill>
          <a:ln w="5080">
            <a:solidFill>
              <a:srgbClr val="E2E8F0"/>
            </a:solidFill>
            <a:prstDash val="solid"/>
          </a:ln>
        </p:spPr>
        <p:txBody>
          <a:bodyPr/>
          <a:lstStyle/>
          <a:p>
            <a:endParaRPr lang="en-IN" sz="3200"/>
          </a:p>
        </p:txBody>
      </p:sp>
      <p:sp>
        <p:nvSpPr>
          <p:cNvPr id="47" name="Text 45"/>
          <p:cNvSpPr/>
          <p:nvPr/>
        </p:nvSpPr>
        <p:spPr>
          <a:xfrm>
            <a:off x="347472" y="2761488"/>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White box testing</a:t>
            </a:r>
            <a:endParaRPr lang="en-US" sz="1200" dirty="0"/>
          </a:p>
        </p:txBody>
      </p:sp>
      <p:sp>
        <p:nvSpPr>
          <p:cNvPr id="48" name="Shape 46"/>
          <p:cNvSpPr/>
          <p:nvPr/>
        </p:nvSpPr>
        <p:spPr>
          <a:xfrm>
            <a:off x="2633472" y="2761488"/>
            <a:ext cx="2395728" cy="347472"/>
          </a:xfrm>
          <a:prstGeom prst="rect">
            <a:avLst/>
          </a:prstGeom>
          <a:solidFill>
            <a:srgbClr val="451A1A"/>
          </a:solidFill>
          <a:ln w="5080">
            <a:solidFill>
              <a:srgbClr val="E2E8F0"/>
            </a:solidFill>
            <a:prstDash val="solid"/>
          </a:ln>
        </p:spPr>
        <p:txBody>
          <a:bodyPr/>
          <a:lstStyle/>
          <a:p>
            <a:endParaRPr lang="en-IN" sz="3200"/>
          </a:p>
        </p:txBody>
      </p:sp>
      <p:sp>
        <p:nvSpPr>
          <p:cNvPr id="49" name="Text 47"/>
          <p:cNvSpPr/>
          <p:nvPr/>
        </p:nvSpPr>
        <p:spPr>
          <a:xfrm>
            <a:off x="2724912" y="2761488"/>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Yes</a:t>
            </a:r>
            <a:endParaRPr lang="en-US" sz="1200" dirty="0"/>
          </a:p>
        </p:txBody>
      </p:sp>
      <p:sp>
        <p:nvSpPr>
          <p:cNvPr id="50" name="Shape 48"/>
          <p:cNvSpPr/>
          <p:nvPr/>
        </p:nvSpPr>
        <p:spPr>
          <a:xfrm>
            <a:off x="5102352" y="2761488"/>
            <a:ext cx="2231136" cy="347472"/>
          </a:xfrm>
          <a:prstGeom prst="rect">
            <a:avLst/>
          </a:prstGeom>
          <a:solidFill>
            <a:srgbClr val="1A1A10"/>
          </a:solidFill>
          <a:ln w="5080">
            <a:solidFill>
              <a:srgbClr val="E2E8F0"/>
            </a:solidFill>
            <a:prstDash val="solid"/>
          </a:ln>
        </p:spPr>
        <p:txBody>
          <a:bodyPr/>
          <a:lstStyle/>
          <a:p>
            <a:endParaRPr lang="en-IN" sz="3200"/>
          </a:p>
        </p:txBody>
      </p:sp>
      <p:sp>
        <p:nvSpPr>
          <p:cNvPr id="51" name="Text 49"/>
          <p:cNvSpPr/>
          <p:nvPr/>
        </p:nvSpPr>
        <p:spPr>
          <a:xfrm>
            <a:off x="5193792" y="2761488"/>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Partial</a:t>
            </a:r>
            <a:endParaRPr lang="en-US" sz="1200" dirty="0"/>
          </a:p>
        </p:txBody>
      </p:sp>
      <p:sp>
        <p:nvSpPr>
          <p:cNvPr id="52" name="Shape 50"/>
          <p:cNvSpPr/>
          <p:nvPr/>
        </p:nvSpPr>
        <p:spPr>
          <a:xfrm>
            <a:off x="7388352" y="2761488"/>
            <a:ext cx="1572768" cy="347472"/>
          </a:xfrm>
          <a:prstGeom prst="rect">
            <a:avLst/>
          </a:prstGeom>
          <a:solidFill>
            <a:srgbClr val="DBEAFE"/>
          </a:solidFill>
          <a:ln w="5080">
            <a:solidFill>
              <a:srgbClr val="E2E8F0"/>
            </a:solidFill>
            <a:prstDash val="solid"/>
          </a:ln>
        </p:spPr>
        <p:txBody>
          <a:bodyPr/>
          <a:lstStyle/>
          <a:p>
            <a:endParaRPr lang="en-IN" sz="3200"/>
          </a:p>
        </p:txBody>
      </p:sp>
      <p:sp>
        <p:nvSpPr>
          <p:cNvPr id="53" name="Text 51"/>
          <p:cNvSpPr/>
          <p:nvPr/>
        </p:nvSpPr>
        <p:spPr>
          <a:xfrm>
            <a:off x="7479792" y="2761488"/>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Yes</a:t>
            </a:r>
            <a:endParaRPr lang="en-US" sz="1200" dirty="0"/>
          </a:p>
        </p:txBody>
      </p:sp>
      <p:sp>
        <p:nvSpPr>
          <p:cNvPr id="54" name="Shape 52"/>
          <p:cNvSpPr/>
          <p:nvPr/>
        </p:nvSpPr>
        <p:spPr>
          <a:xfrm>
            <a:off x="256032" y="3108960"/>
            <a:ext cx="2304288" cy="347472"/>
          </a:xfrm>
          <a:prstGeom prst="rect">
            <a:avLst/>
          </a:prstGeom>
          <a:solidFill>
            <a:srgbClr val="F8FAFC"/>
          </a:solidFill>
          <a:ln w="5080">
            <a:solidFill>
              <a:srgbClr val="E2E8F0"/>
            </a:solidFill>
            <a:prstDash val="solid"/>
          </a:ln>
        </p:spPr>
        <p:txBody>
          <a:bodyPr/>
          <a:lstStyle/>
          <a:p>
            <a:endParaRPr lang="en-IN" sz="3200"/>
          </a:p>
        </p:txBody>
      </p:sp>
      <p:sp>
        <p:nvSpPr>
          <p:cNvPr id="55" name="Text 53"/>
          <p:cNvSpPr/>
          <p:nvPr/>
        </p:nvSpPr>
        <p:spPr>
          <a:xfrm>
            <a:off x="347472" y="3108960"/>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Audit trail</a:t>
            </a:r>
            <a:endParaRPr lang="en-US" sz="1200" dirty="0"/>
          </a:p>
        </p:txBody>
      </p:sp>
      <p:sp>
        <p:nvSpPr>
          <p:cNvPr id="56" name="Shape 54"/>
          <p:cNvSpPr/>
          <p:nvPr/>
        </p:nvSpPr>
        <p:spPr>
          <a:xfrm>
            <a:off x="2633472" y="3108960"/>
            <a:ext cx="2395728" cy="347472"/>
          </a:xfrm>
          <a:prstGeom prst="rect">
            <a:avLst/>
          </a:prstGeom>
          <a:solidFill>
            <a:srgbClr val="330E0E"/>
          </a:solidFill>
          <a:ln w="5080">
            <a:solidFill>
              <a:srgbClr val="E2E8F0"/>
            </a:solidFill>
            <a:prstDash val="solid"/>
          </a:ln>
        </p:spPr>
        <p:txBody>
          <a:bodyPr/>
          <a:lstStyle/>
          <a:p>
            <a:endParaRPr lang="en-IN" sz="3200"/>
          </a:p>
        </p:txBody>
      </p:sp>
      <p:sp>
        <p:nvSpPr>
          <p:cNvPr id="57" name="Text 55"/>
          <p:cNvSpPr/>
          <p:nvPr/>
        </p:nvSpPr>
        <p:spPr>
          <a:xfrm>
            <a:off x="2724912" y="3108960"/>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PDF report</a:t>
            </a:r>
            <a:endParaRPr lang="en-US" sz="1200" dirty="0"/>
          </a:p>
        </p:txBody>
      </p:sp>
      <p:sp>
        <p:nvSpPr>
          <p:cNvPr id="58" name="Shape 56"/>
          <p:cNvSpPr/>
          <p:nvPr/>
        </p:nvSpPr>
        <p:spPr>
          <a:xfrm>
            <a:off x="5102352" y="3108960"/>
            <a:ext cx="2231136" cy="347472"/>
          </a:xfrm>
          <a:prstGeom prst="rect">
            <a:avLst/>
          </a:prstGeom>
          <a:solidFill>
            <a:srgbClr val="111107"/>
          </a:solidFill>
          <a:ln w="5080">
            <a:solidFill>
              <a:srgbClr val="E2E8F0"/>
            </a:solidFill>
            <a:prstDash val="solid"/>
          </a:ln>
        </p:spPr>
        <p:txBody>
          <a:bodyPr/>
          <a:lstStyle/>
          <a:p>
            <a:endParaRPr lang="en-IN" sz="3200"/>
          </a:p>
        </p:txBody>
      </p:sp>
      <p:sp>
        <p:nvSpPr>
          <p:cNvPr id="59" name="Text 57"/>
          <p:cNvSpPr/>
          <p:nvPr/>
        </p:nvSpPr>
        <p:spPr>
          <a:xfrm>
            <a:off x="5193792" y="3108960"/>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Email threads</a:t>
            </a:r>
            <a:endParaRPr lang="en-US" sz="1200" dirty="0"/>
          </a:p>
        </p:txBody>
      </p:sp>
      <p:sp>
        <p:nvSpPr>
          <p:cNvPr id="60" name="Shape 58"/>
          <p:cNvSpPr/>
          <p:nvPr/>
        </p:nvSpPr>
        <p:spPr>
          <a:xfrm>
            <a:off x="7388352" y="3108960"/>
            <a:ext cx="1572768" cy="347472"/>
          </a:xfrm>
          <a:prstGeom prst="rect">
            <a:avLst/>
          </a:prstGeom>
          <a:solidFill>
            <a:srgbClr val="EFF6FF"/>
          </a:solidFill>
          <a:ln w="5080">
            <a:solidFill>
              <a:srgbClr val="E2E8F0"/>
            </a:solidFill>
            <a:prstDash val="solid"/>
          </a:ln>
        </p:spPr>
        <p:txBody>
          <a:bodyPr/>
          <a:lstStyle/>
          <a:p>
            <a:endParaRPr lang="en-IN" sz="3200"/>
          </a:p>
        </p:txBody>
      </p:sp>
      <p:sp>
        <p:nvSpPr>
          <p:cNvPr id="61" name="Text 59"/>
          <p:cNvSpPr/>
          <p:nvPr/>
        </p:nvSpPr>
        <p:spPr>
          <a:xfrm>
            <a:off x="7479792" y="3108960"/>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Full signed log</a:t>
            </a:r>
            <a:endParaRPr lang="en-US" sz="1200" dirty="0"/>
          </a:p>
        </p:txBody>
      </p:sp>
      <p:sp>
        <p:nvSpPr>
          <p:cNvPr id="62" name="Shape 60"/>
          <p:cNvSpPr/>
          <p:nvPr/>
        </p:nvSpPr>
        <p:spPr>
          <a:xfrm>
            <a:off x="256032" y="3456432"/>
            <a:ext cx="2304288" cy="347472"/>
          </a:xfrm>
          <a:prstGeom prst="rect">
            <a:avLst/>
          </a:prstGeom>
          <a:solidFill>
            <a:srgbClr val="EEF2FF"/>
          </a:solidFill>
          <a:ln w="5080">
            <a:solidFill>
              <a:srgbClr val="E2E8F0"/>
            </a:solidFill>
            <a:prstDash val="solid"/>
          </a:ln>
        </p:spPr>
        <p:txBody>
          <a:bodyPr/>
          <a:lstStyle/>
          <a:p>
            <a:endParaRPr lang="en-IN" sz="3200"/>
          </a:p>
        </p:txBody>
      </p:sp>
      <p:sp>
        <p:nvSpPr>
          <p:cNvPr id="63" name="Text 61"/>
          <p:cNvSpPr/>
          <p:nvPr/>
        </p:nvSpPr>
        <p:spPr>
          <a:xfrm>
            <a:off x="347472" y="3456432"/>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Scales with CI/CD</a:t>
            </a:r>
            <a:endParaRPr lang="en-US" sz="1200" dirty="0"/>
          </a:p>
        </p:txBody>
      </p:sp>
      <p:sp>
        <p:nvSpPr>
          <p:cNvPr id="64" name="Shape 62"/>
          <p:cNvSpPr/>
          <p:nvPr/>
        </p:nvSpPr>
        <p:spPr>
          <a:xfrm>
            <a:off x="2633472" y="3456432"/>
            <a:ext cx="2395728" cy="347472"/>
          </a:xfrm>
          <a:prstGeom prst="rect">
            <a:avLst/>
          </a:prstGeom>
          <a:solidFill>
            <a:srgbClr val="451A1A"/>
          </a:solidFill>
          <a:ln w="5080">
            <a:solidFill>
              <a:srgbClr val="E2E8F0"/>
            </a:solidFill>
            <a:prstDash val="solid"/>
          </a:ln>
        </p:spPr>
        <p:txBody>
          <a:bodyPr/>
          <a:lstStyle/>
          <a:p>
            <a:endParaRPr lang="en-IN" sz="3200"/>
          </a:p>
        </p:txBody>
      </p:sp>
      <p:sp>
        <p:nvSpPr>
          <p:cNvPr id="65" name="Text 63"/>
          <p:cNvSpPr/>
          <p:nvPr/>
        </p:nvSpPr>
        <p:spPr>
          <a:xfrm>
            <a:off x="2724912" y="3456432"/>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No</a:t>
            </a:r>
            <a:endParaRPr lang="en-US" sz="1200" dirty="0"/>
          </a:p>
        </p:txBody>
      </p:sp>
      <p:sp>
        <p:nvSpPr>
          <p:cNvPr id="66" name="Shape 64"/>
          <p:cNvSpPr/>
          <p:nvPr/>
        </p:nvSpPr>
        <p:spPr>
          <a:xfrm>
            <a:off x="5102352" y="3456432"/>
            <a:ext cx="2231136" cy="347472"/>
          </a:xfrm>
          <a:prstGeom prst="rect">
            <a:avLst/>
          </a:prstGeom>
          <a:solidFill>
            <a:srgbClr val="1A1A10"/>
          </a:solidFill>
          <a:ln w="5080">
            <a:solidFill>
              <a:srgbClr val="E2E8F0"/>
            </a:solidFill>
            <a:prstDash val="solid"/>
          </a:ln>
        </p:spPr>
        <p:txBody>
          <a:bodyPr/>
          <a:lstStyle/>
          <a:p>
            <a:endParaRPr lang="en-IN" sz="3200"/>
          </a:p>
        </p:txBody>
      </p:sp>
      <p:sp>
        <p:nvSpPr>
          <p:cNvPr id="67" name="Text 65"/>
          <p:cNvSpPr/>
          <p:nvPr/>
        </p:nvSpPr>
        <p:spPr>
          <a:xfrm>
            <a:off x="5193792" y="3456432"/>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No</a:t>
            </a:r>
            <a:endParaRPr lang="en-US" sz="1200" dirty="0"/>
          </a:p>
        </p:txBody>
      </p:sp>
      <p:sp>
        <p:nvSpPr>
          <p:cNvPr id="68" name="Shape 66"/>
          <p:cNvSpPr/>
          <p:nvPr/>
        </p:nvSpPr>
        <p:spPr>
          <a:xfrm>
            <a:off x="7388352" y="3456432"/>
            <a:ext cx="1572768" cy="347472"/>
          </a:xfrm>
          <a:prstGeom prst="rect">
            <a:avLst/>
          </a:prstGeom>
          <a:solidFill>
            <a:srgbClr val="DBEAFE"/>
          </a:solidFill>
          <a:ln w="5080">
            <a:solidFill>
              <a:srgbClr val="E2E8F0"/>
            </a:solidFill>
            <a:prstDash val="solid"/>
          </a:ln>
        </p:spPr>
        <p:txBody>
          <a:bodyPr/>
          <a:lstStyle/>
          <a:p>
            <a:endParaRPr lang="en-IN" sz="3200"/>
          </a:p>
        </p:txBody>
      </p:sp>
      <p:sp>
        <p:nvSpPr>
          <p:cNvPr id="69" name="Text 67"/>
          <p:cNvSpPr/>
          <p:nvPr/>
        </p:nvSpPr>
        <p:spPr>
          <a:xfrm>
            <a:off x="7479792" y="3456432"/>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Yes — pipeline ready</a:t>
            </a:r>
            <a:endParaRPr lang="en-US" sz="1200" dirty="0"/>
          </a:p>
        </p:txBody>
      </p:sp>
      <p:sp>
        <p:nvSpPr>
          <p:cNvPr id="70" name="Shape 68"/>
          <p:cNvSpPr/>
          <p:nvPr/>
        </p:nvSpPr>
        <p:spPr>
          <a:xfrm>
            <a:off x="256032" y="3803904"/>
            <a:ext cx="2304288" cy="347472"/>
          </a:xfrm>
          <a:prstGeom prst="rect">
            <a:avLst/>
          </a:prstGeom>
          <a:solidFill>
            <a:srgbClr val="F8FAFC"/>
          </a:solidFill>
          <a:ln w="5080">
            <a:solidFill>
              <a:srgbClr val="E2E8F0"/>
            </a:solidFill>
            <a:prstDash val="solid"/>
          </a:ln>
        </p:spPr>
        <p:txBody>
          <a:bodyPr/>
          <a:lstStyle/>
          <a:p>
            <a:endParaRPr lang="en-IN" sz="3200"/>
          </a:p>
        </p:txBody>
      </p:sp>
      <p:sp>
        <p:nvSpPr>
          <p:cNvPr id="71" name="Text 69"/>
          <p:cNvSpPr/>
          <p:nvPr/>
        </p:nvSpPr>
        <p:spPr>
          <a:xfrm>
            <a:off x="347472" y="3803904"/>
            <a:ext cx="2194560" cy="347472"/>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ISO 27001 evidence</a:t>
            </a:r>
            <a:endParaRPr lang="en-US" sz="1200" dirty="0"/>
          </a:p>
        </p:txBody>
      </p:sp>
      <p:sp>
        <p:nvSpPr>
          <p:cNvPr id="72" name="Shape 70"/>
          <p:cNvSpPr/>
          <p:nvPr/>
        </p:nvSpPr>
        <p:spPr>
          <a:xfrm>
            <a:off x="2633472" y="3803904"/>
            <a:ext cx="2395728" cy="347472"/>
          </a:xfrm>
          <a:prstGeom prst="rect">
            <a:avLst/>
          </a:prstGeom>
          <a:solidFill>
            <a:srgbClr val="330E0E"/>
          </a:solidFill>
          <a:ln w="5080">
            <a:solidFill>
              <a:srgbClr val="E2E8F0"/>
            </a:solidFill>
            <a:prstDash val="solid"/>
          </a:ln>
        </p:spPr>
        <p:txBody>
          <a:bodyPr/>
          <a:lstStyle/>
          <a:p>
            <a:endParaRPr lang="en-IN" sz="3200"/>
          </a:p>
        </p:txBody>
      </p:sp>
      <p:sp>
        <p:nvSpPr>
          <p:cNvPr id="73" name="Text 71"/>
          <p:cNvSpPr/>
          <p:nvPr/>
        </p:nvSpPr>
        <p:spPr>
          <a:xfrm>
            <a:off x="2724912" y="3803904"/>
            <a:ext cx="2286000" cy="347472"/>
          </a:xfrm>
          <a:prstGeom prst="rect">
            <a:avLst/>
          </a:prstGeom>
          <a:noFill/>
          <a:ln/>
        </p:spPr>
        <p:txBody>
          <a:bodyPr wrap="square" lIns="0" tIns="0" rIns="0" bIns="0"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Yes (expensive)</a:t>
            </a:r>
            <a:endParaRPr lang="en-US" sz="1200" dirty="0"/>
          </a:p>
        </p:txBody>
      </p:sp>
      <p:sp>
        <p:nvSpPr>
          <p:cNvPr id="74" name="Shape 72"/>
          <p:cNvSpPr/>
          <p:nvPr/>
        </p:nvSpPr>
        <p:spPr>
          <a:xfrm>
            <a:off x="5102352" y="3803904"/>
            <a:ext cx="2231136" cy="347472"/>
          </a:xfrm>
          <a:prstGeom prst="rect">
            <a:avLst/>
          </a:prstGeom>
          <a:solidFill>
            <a:srgbClr val="111107"/>
          </a:solidFill>
          <a:ln w="5080">
            <a:solidFill>
              <a:srgbClr val="E2E8F0"/>
            </a:solidFill>
            <a:prstDash val="solid"/>
          </a:ln>
        </p:spPr>
        <p:txBody>
          <a:bodyPr/>
          <a:lstStyle/>
          <a:p>
            <a:endParaRPr lang="en-IN" sz="3200"/>
          </a:p>
        </p:txBody>
      </p:sp>
      <p:sp>
        <p:nvSpPr>
          <p:cNvPr id="75" name="Text 73"/>
          <p:cNvSpPr/>
          <p:nvPr/>
        </p:nvSpPr>
        <p:spPr>
          <a:xfrm>
            <a:off x="5193792" y="3803904"/>
            <a:ext cx="2121408" cy="347472"/>
          </a:xfrm>
          <a:prstGeom prst="rect">
            <a:avLst/>
          </a:prstGeom>
          <a:noFill/>
          <a:ln/>
        </p:spPr>
        <p:txBody>
          <a:bodyPr wrap="square" lIns="0" tIns="0" rIns="0" bIns="0" rtlCol="0" anchor="ctr"/>
          <a:lstStyle/>
          <a:p>
            <a:pPr marL="0" indent="0" algn="ctr">
              <a:buNone/>
            </a:pPr>
            <a:r>
              <a:rPr lang="en-US" sz="1200" dirty="0">
                <a:solidFill>
                  <a:srgbClr val="FDE68A"/>
                </a:solidFill>
                <a:latin typeface="Calibri" pitchFamily="34" charset="0"/>
                <a:ea typeface="Calibri" pitchFamily="34" charset="-122"/>
                <a:cs typeface="Calibri" pitchFamily="34" charset="-120"/>
              </a:rPr>
              <a:t>No</a:t>
            </a:r>
            <a:endParaRPr lang="en-US" sz="1200" dirty="0"/>
          </a:p>
        </p:txBody>
      </p:sp>
      <p:sp>
        <p:nvSpPr>
          <p:cNvPr id="76" name="Shape 74"/>
          <p:cNvSpPr/>
          <p:nvPr/>
        </p:nvSpPr>
        <p:spPr>
          <a:xfrm>
            <a:off x="7388352" y="3803904"/>
            <a:ext cx="1572768" cy="347472"/>
          </a:xfrm>
          <a:prstGeom prst="rect">
            <a:avLst/>
          </a:prstGeom>
          <a:solidFill>
            <a:srgbClr val="EFF6FF"/>
          </a:solidFill>
          <a:ln w="5080">
            <a:solidFill>
              <a:srgbClr val="E2E8F0"/>
            </a:solidFill>
            <a:prstDash val="solid"/>
          </a:ln>
        </p:spPr>
        <p:txBody>
          <a:bodyPr/>
          <a:lstStyle/>
          <a:p>
            <a:endParaRPr lang="en-IN" sz="3200"/>
          </a:p>
        </p:txBody>
      </p:sp>
      <p:sp>
        <p:nvSpPr>
          <p:cNvPr id="77" name="Text 75"/>
          <p:cNvSpPr/>
          <p:nvPr/>
        </p:nvSpPr>
        <p:spPr>
          <a:xfrm>
            <a:off x="7479792" y="3803904"/>
            <a:ext cx="1463040" cy="347472"/>
          </a:xfrm>
          <a:prstGeom prst="rect">
            <a:avLst/>
          </a:prstGeom>
          <a:noFill/>
          <a:ln/>
        </p:spPr>
        <p:txBody>
          <a:bodyPr wrap="square" lIns="0" tIns="0" rIns="0" bIns="0" rtlCol="0" anchor="ctr"/>
          <a:lstStyle/>
          <a:p>
            <a:pPr marL="0" indent="0" algn="ctr">
              <a:buNone/>
            </a:pPr>
            <a:r>
              <a:rPr lang="en-US" sz="1200" b="1" dirty="0">
                <a:solidFill>
                  <a:srgbClr val="1D4ED8"/>
                </a:solidFill>
                <a:latin typeface="Calibri" pitchFamily="34" charset="0"/>
                <a:ea typeface="Calibri" pitchFamily="34" charset="-122"/>
                <a:cs typeface="Calibri" pitchFamily="34" charset="-120"/>
              </a:rPr>
              <a:t>Yes (automated)</a:t>
            </a:r>
            <a:endParaRPr lang="en-US" sz="1200" dirty="0"/>
          </a:p>
        </p:txBody>
      </p:sp>
      <p:sp>
        <p:nvSpPr>
          <p:cNvPr id="78" name="Text 76"/>
          <p:cNvSpPr/>
          <p:nvPr/>
        </p:nvSpPr>
        <p:spPr>
          <a:xfrm>
            <a:off x="256032" y="4261104"/>
            <a:ext cx="3200400" cy="274320"/>
          </a:xfrm>
          <a:prstGeom prst="rect">
            <a:avLst/>
          </a:prstGeom>
          <a:noFill/>
          <a:ln/>
        </p:spPr>
        <p:txBody>
          <a:bodyPr wrap="square" lIns="0" tIns="0" rIns="0" bIns="0" rtlCol="0" anchor="ctr"/>
          <a:lstStyle/>
          <a:p>
            <a:pPr marL="0" indent="0" algn="l">
              <a:buNone/>
            </a:pPr>
            <a:r>
              <a:rPr lang="en-US" sz="1200" b="1" dirty="0">
                <a:solidFill>
                  <a:srgbClr val="1E293B"/>
                </a:solidFill>
                <a:latin typeface="Georgia" pitchFamily="34" charset="0"/>
                <a:ea typeface="Georgia" pitchFamily="34" charset="-122"/>
                <a:cs typeface="Georgia" pitchFamily="34" charset="-120"/>
              </a:rPr>
              <a:t>Round 2 Build Plan</a:t>
            </a:r>
            <a:endParaRPr lang="en-US" sz="1200" dirty="0"/>
          </a:p>
        </p:txBody>
      </p:sp>
      <p:sp>
        <p:nvSpPr>
          <p:cNvPr id="79" name="Shape 77"/>
          <p:cNvSpPr/>
          <p:nvPr/>
        </p:nvSpPr>
        <p:spPr>
          <a:xfrm>
            <a:off x="256032" y="4553712"/>
            <a:ext cx="2011680" cy="529732"/>
          </a:xfrm>
          <a:prstGeom prst="rect">
            <a:avLst/>
          </a:prstGeom>
          <a:solidFill>
            <a:srgbClr val="0B1120"/>
          </a:solidFill>
          <a:ln w="9525">
            <a:solidFill>
              <a:srgbClr val="3B82F6"/>
            </a:solidFill>
            <a:prstDash val="solid"/>
          </a:ln>
        </p:spPr>
        <p:txBody>
          <a:bodyPr/>
          <a:lstStyle/>
          <a:p>
            <a:endParaRPr lang="en-IN" sz="2400"/>
          </a:p>
        </p:txBody>
      </p:sp>
      <p:sp>
        <p:nvSpPr>
          <p:cNvPr id="80" name="Shape 78"/>
          <p:cNvSpPr/>
          <p:nvPr/>
        </p:nvSpPr>
        <p:spPr>
          <a:xfrm>
            <a:off x="256032" y="4553712"/>
            <a:ext cx="2011680" cy="64008"/>
          </a:xfrm>
          <a:prstGeom prst="rect">
            <a:avLst/>
          </a:prstGeom>
          <a:solidFill>
            <a:srgbClr val="3B82F6"/>
          </a:solidFill>
          <a:ln w="12700">
            <a:solidFill>
              <a:srgbClr val="3B82F6"/>
            </a:solidFill>
            <a:prstDash val="solid"/>
          </a:ln>
        </p:spPr>
        <p:txBody>
          <a:bodyPr/>
          <a:lstStyle/>
          <a:p>
            <a:endParaRPr lang="en-IN" sz="2400"/>
          </a:p>
        </p:txBody>
      </p:sp>
      <p:sp>
        <p:nvSpPr>
          <p:cNvPr id="81" name="Text 79"/>
          <p:cNvSpPr/>
          <p:nvPr/>
        </p:nvSpPr>
        <p:spPr>
          <a:xfrm>
            <a:off x="256032" y="4608576"/>
            <a:ext cx="2011680" cy="182880"/>
          </a:xfrm>
          <a:prstGeom prst="rect">
            <a:avLst/>
          </a:prstGeom>
          <a:noFill/>
          <a:ln/>
        </p:spPr>
        <p:txBody>
          <a:bodyPr wrap="square" lIns="0" tIns="0" rIns="0" bIns="0" rtlCol="0" anchor="ctr"/>
          <a:lstStyle/>
          <a:p>
            <a:pPr marL="0" indent="0" algn="ctr">
              <a:buNone/>
            </a:pPr>
            <a:r>
              <a:rPr lang="en-US" sz="1050" b="1" dirty="0">
                <a:solidFill>
                  <a:srgbClr val="3B82F6"/>
                </a:solidFill>
                <a:latin typeface="Georgia" pitchFamily="34" charset="0"/>
                <a:ea typeface="Georgia" pitchFamily="34" charset="-122"/>
                <a:cs typeface="Georgia" pitchFamily="34" charset="-120"/>
              </a:rPr>
              <a:t>Week 1</a:t>
            </a:r>
            <a:endParaRPr lang="en-US" sz="1050" dirty="0"/>
          </a:p>
        </p:txBody>
      </p:sp>
      <p:sp>
        <p:nvSpPr>
          <p:cNvPr id="82" name="Text 80"/>
          <p:cNvSpPr/>
          <p:nvPr/>
        </p:nvSpPr>
        <p:spPr>
          <a:xfrm>
            <a:off x="329184" y="4822452"/>
            <a:ext cx="1883664"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Core ReAct loop + Recon + Exploit Agents</a:t>
            </a:r>
            <a:endParaRPr lang="en-US" sz="900" dirty="0"/>
          </a:p>
        </p:txBody>
      </p:sp>
      <p:sp>
        <p:nvSpPr>
          <p:cNvPr id="83" name="Shape 81"/>
          <p:cNvSpPr/>
          <p:nvPr/>
        </p:nvSpPr>
        <p:spPr>
          <a:xfrm>
            <a:off x="2432304" y="4553712"/>
            <a:ext cx="2011680" cy="529732"/>
          </a:xfrm>
          <a:prstGeom prst="rect">
            <a:avLst/>
          </a:prstGeom>
          <a:solidFill>
            <a:srgbClr val="0B1120"/>
          </a:solidFill>
          <a:ln w="9525">
            <a:solidFill>
              <a:srgbClr val="10B981"/>
            </a:solidFill>
            <a:prstDash val="solid"/>
          </a:ln>
        </p:spPr>
        <p:txBody>
          <a:bodyPr/>
          <a:lstStyle/>
          <a:p>
            <a:endParaRPr lang="en-IN" sz="2400"/>
          </a:p>
        </p:txBody>
      </p:sp>
      <p:sp>
        <p:nvSpPr>
          <p:cNvPr id="84" name="Shape 82"/>
          <p:cNvSpPr/>
          <p:nvPr/>
        </p:nvSpPr>
        <p:spPr>
          <a:xfrm>
            <a:off x="2432304" y="4553712"/>
            <a:ext cx="2011680" cy="64008"/>
          </a:xfrm>
          <a:prstGeom prst="rect">
            <a:avLst/>
          </a:prstGeom>
          <a:solidFill>
            <a:srgbClr val="10B981"/>
          </a:solidFill>
          <a:ln w="12700">
            <a:solidFill>
              <a:srgbClr val="10B981"/>
            </a:solidFill>
            <a:prstDash val="solid"/>
          </a:ln>
        </p:spPr>
        <p:txBody>
          <a:bodyPr/>
          <a:lstStyle/>
          <a:p>
            <a:endParaRPr lang="en-IN" sz="2400"/>
          </a:p>
        </p:txBody>
      </p:sp>
      <p:sp>
        <p:nvSpPr>
          <p:cNvPr id="85" name="Text 83"/>
          <p:cNvSpPr/>
          <p:nvPr/>
        </p:nvSpPr>
        <p:spPr>
          <a:xfrm>
            <a:off x="2432304" y="4608576"/>
            <a:ext cx="2011680" cy="182880"/>
          </a:xfrm>
          <a:prstGeom prst="rect">
            <a:avLst/>
          </a:prstGeom>
          <a:noFill/>
          <a:ln/>
        </p:spPr>
        <p:txBody>
          <a:bodyPr wrap="square" lIns="0" tIns="0" rIns="0" bIns="0" rtlCol="0" anchor="ctr"/>
          <a:lstStyle/>
          <a:p>
            <a:pPr marL="0" indent="0" algn="ctr">
              <a:buNone/>
            </a:pPr>
            <a:r>
              <a:rPr lang="en-US" sz="1050" b="1" dirty="0">
                <a:solidFill>
                  <a:srgbClr val="10B981"/>
                </a:solidFill>
                <a:latin typeface="Georgia" pitchFamily="34" charset="0"/>
                <a:ea typeface="Georgia" pitchFamily="34" charset="-122"/>
                <a:cs typeface="Georgia" pitchFamily="34" charset="-120"/>
              </a:rPr>
              <a:t>Week 2</a:t>
            </a:r>
            <a:endParaRPr lang="en-US" sz="1050" dirty="0"/>
          </a:p>
        </p:txBody>
      </p:sp>
      <p:sp>
        <p:nvSpPr>
          <p:cNvPr id="86" name="Text 84"/>
          <p:cNvSpPr/>
          <p:nvPr/>
        </p:nvSpPr>
        <p:spPr>
          <a:xfrm>
            <a:off x="2505456" y="4814703"/>
            <a:ext cx="1883664"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Patch Agent + ChromaDB memory integration</a:t>
            </a:r>
            <a:endParaRPr lang="en-US" sz="900" dirty="0"/>
          </a:p>
        </p:txBody>
      </p:sp>
      <p:sp>
        <p:nvSpPr>
          <p:cNvPr id="87" name="Shape 85"/>
          <p:cNvSpPr/>
          <p:nvPr/>
        </p:nvSpPr>
        <p:spPr>
          <a:xfrm>
            <a:off x="4608576" y="4553712"/>
            <a:ext cx="2011680" cy="529732"/>
          </a:xfrm>
          <a:prstGeom prst="rect">
            <a:avLst/>
          </a:prstGeom>
          <a:solidFill>
            <a:srgbClr val="0B1120"/>
          </a:solidFill>
          <a:ln w="9525">
            <a:solidFill>
              <a:srgbClr val="F59E0B"/>
            </a:solidFill>
            <a:prstDash val="solid"/>
          </a:ln>
        </p:spPr>
        <p:txBody>
          <a:bodyPr/>
          <a:lstStyle/>
          <a:p>
            <a:endParaRPr lang="en-IN" sz="2400"/>
          </a:p>
        </p:txBody>
      </p:sp>
      <p:sp>
        <p:nvSpPr>
          <p:cNvPr id="88" name="Shape 86"/>
          <p:cNvSpPr/>
          <p:nvPr/>
        </p:nvSpPr>
        <p:spPr>
          <a:xfrm>
            <a:off x="4608576" y="4553712"/>
            <a:ext cx="2011680" cy="64008"/>
          </a:xfrm>
          <a:prstGeom prst="rect">
            <a:avLst/>
          </a:prstGeom>
          <a:solidFill>
            <a:srgbClr val="F59E0B"/>
          </a:solidFill>
          <a:ln w="12700">
            <a:solidFill>
              <a:srgbClr val="F59E0B"/>
            </a:solidFill>
            <a:prstDash val="solid"/>
          </a:ln>
        </p:spPr>
        <p:txBody>
          <a:bodyPr/>
          <a:lstStyle/>
          <a:p>
            <a:endParaRPr lang="en-IN" sz="2400"/>
          </a:p>
        </p:txBody>
      </p:sp>
      <p:sp>
        <p:nvSpPr>
          <p:cNvPr id="89" name="Text 87"/>
          <p:cNvSpPr/>
          <p:nvPr/>
        </p:nvSpPr>
        <p:spPr>
          <a:xfrm>
            <a:off x="4608576" y="4608576"/>
            <a:ext cx="2011680" cy="182880"/>
          </a:xfrm>
          <a:prstGeom prst="rect">
            <a:avLst/>
          </a:prstGeom>
          <a:noFill/>
          <a:ln/>
        </p:spPr>
        <p:txBody>
          <a:bodyPr wrap="square" lIns="0" tIns="0" rIns="0" bIns="0" rtlCol="0" anchor="ctr"/>
          <a:lstStyle/>
          <a:p>
            <a:pPr marL="0" indent="0" algn="ctr">
              <a:buNone/>
            </a:pPr>
            <a:r>
              <a:rPr lang="en-US" sz="1050" b="1" dirty="0">
                <a:solidFill>
                  <a:srgbClr val="F59E0B"/>
                </a:solidFill>
                <a:latin typeface="Georgia" pitchFamily="34" charset="0"/>
                <a:ea typeface="Georgia" pitchFamily="34" charset="-122"/>
                <a:cs typeface="Georgia" pitchFamily="34" charset="-120"/>
              </a:rPr>
              <a:t>Week 3</a:t>
            </a:r>
            <a:endParaRPr lang="en-US" sz="1050" dirty="0"/>
          </a:p>
        </p:txBody>
      </p:sp>
      <p:sp>
        <p:nvSpPr>
          <p:cNvPr id="90" name="Text 88"/>
          <p:cNvSpPr/>
          <p:nvPr/>
        </p:nvSpPr>
        <p:spPr>
          <a:xfrm>
            <a:off x="4681728" y="4799205"/>
            <a:ext cx="1883664" cy="29198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Security hardening + audit logging</a:t>
            </a:r>
            <a:endParaRPr lang="en-US" sz="900" dirty="0"/>
          </a:p>
        </p:txBody>
      </p:sp>
      <p:sp>
        <p:nvSpPr>
          <p:cNvPr id="91" name="Shape 89"/>
          <p:cNvSpPr/>
          <p:nvPr/>
        </p:nvSpPr>
        <p:spPr>
          <a:xfrm>
            <a:off x="6784848" y="4553712"/>
            <a:ext cx="2011680" cy="529732"/>
          </a:xfrm>
          <a:prstGeom prst="rect">
            <a:avLst/>
          </a:prstGeom>
          <a:solidFill>
            <a:srgbClr val="0B1120"/>
          </a:solidFill>
          <a:ln w="9525">
            <a:solidFill>
              <a:srgbClr val="8B5CF6"/>
            </a:solidFill>
            <a:prstDash val="solid"/>
          </a:ln>
        </p:spPr>
        <p:txBody>
          <a:bodyPr/>
          <a:lstStyle/>
          <a:p>
            <a:endParaRPr lang="en-IN" sz="2400"/>
          </a:p>
        </p:txBody>
      </p:sp>
      <p:sp>
        <p:nvSpPr>
          <p:cNvPr id="92" name="Shape 90"/>
          <p:cNvSpPr/>
          <p:nvPr/>
        </p:nvSpPr>
        <p:spPr>
          <a:xfrm>
            <a:off x="6784848" y="4553712"/>
            <a:ext cx="2011680" cy="64008"/>
          </a:xfrm>
          <a:prstGeom prst="rect">
            <a:avLst/>
          </a:prstGeom>
          <a:solidFill>
            <a:srgbClr val="8B5CF6"/>
          </a:solidFill>
          <a:ln w="12700">
            <a:solidFill>
              <a:srgbClr val="8B5CF6"/>
            </a:solidFill>
            <a:prstDash val="solid"/>
          </a:ln>
        </p:spPr>
        <p:txBody>
          <a:bodyPr/>
          <a:lstStyle/>
          <a:p>
            <a:endParaRPr lang="en-IN" sz="2400"/>
          </a:p>
        </p:txBody>
      </p:sp>
      <p:sp>
        <p:nvSpPr>
          <p:cNvPr id="93" name="Text 91"/>
          <p:cNvSpPr/>
          <p:nvPr/>
        </p:nvSpPr>
        <p:spPr>
          <a:xfrm>
            <a:off x="6784848" y="4608576"/>
            <a:ext cx="2011680" cy="182880"/>
          </a:xfrm>
          <a:prstGeom prst="rect">
            <a:avLst/>
          </a:prstGeom>
          <a:noFill/>
          <a:ln/>
        </p:spPr>
        <p:txBody>
          <a:bodyPr wrap="square" lIns="0" tIns="0" rIns="0" bIns="0" rtlCol="0" anchor="ctr"/>
          <a:lstStyle/>
          <a:p>
            <a:pPr marL="0" indent="0" algn="ctr">
              <a:buNone/>
            </a:pPr>
            <a:r>
              <a:rPr lang="en-US" sz="1050" b="1" dirty="0">
                <a:solidFill>
                  <a:srgbClr val="8B5CF6"/>
                </a:solidFill>
                <a:latin typeface="Georgia" pitchFamily="34" charset="0"/>
                <a:ea typeface="Georgia" pitchFamily="34" charset="-122"/>
                <a:cs typeface="Georgia" pitchFamily="34" charset="-120"/>
              </a:rPr>
              <a:t>Week 4</a:t>
            </a:r>
            <a:endParaRPr lang="en-US" sz="1050" dirty="0"/>
          </a:p>
        </p:txBody>
      </p:sp>
      <p:sp>
        <p:nvSpPr>
          <p:cNvPr id="94" name="Text 92"/>
          <p:cNvSpPr/>
          <p:nvPr/>
        </p:nvSpPr>
        <p:spPr>
          <a:xfrm>
            <a:off x="6858000" y="4830201"/>
            <a:ext cx="1883664"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End-to-end demo + full assessment on live target</a:t>
            </a:r>
            <a:endParaRPr lang="en-US" sz="900" dirty="0"/>
          </a:p>
        </p:txBody>
      </p:sp>
      <p:sp>
        <p:nvSpPr>
          <p:cNvPr id="95" name="Shape 93"/>
          <p:cNvSpPr/>
          <p:nvPr/>
        </p:nvSpPr>
        <p:spPr>
          <a:xfrm>
            <a:off x="0" y="4261104"/>
            <a:ext cx="9144000" cy="0"/>
          </a:xfrm>
          <a:prstGeom prst="rect">
            <a:avLst/>
          </a:prstGeom>
          <a:noFill/>
          <a:ln/>
        </p:spPr>
        <p:txBody>
          <a:bodyPr/>
          <a:lstStyle/>
          <a:p>
            <a:endParaRPr lang="en-IN" sz="3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3085</Words>
  <Application>Microsoft Office PowerPoint</Application>
  <PresentationFormat>On-screen Show (16:9)</PresentationFormat>
  <Paragraphs>217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PHANTOM — Autonomous Pentesting Agent</dc:title>
  <dc:subject>PptxGenJS Presentation</dc:subject>
  <dc:creator>PHANTOM Team</dc:creator>
  <cp:lastModifiedBy>Aayush CHOUDHARY</cp:lastModifiedBy>
  <cp:revision>2</cp:revision>
  <dcterms:created xsi:type="dcterms:W3CDTF">2026-03-13T19:16:08Z</dcterms:created>
  <dcterms:modified xsi:type="dcterms:W3CDTF">2026-03-13T19:26:29Z</dcterms:modified>
</cp:coreProperties>
</file>